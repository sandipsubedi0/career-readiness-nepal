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4" r:id="rId18"/>
    <p:sldId id="275" r:id="rId19"/>
    <p:sldId id="276" r:id="rId20"/>
    <p:sldId id="277" r:id="rId21"/>
    <p:sldId id="278"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5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ip Subedi" userId="2337b8ae5e237f83" providerId="LiveId" clId="{08D09BBC-58A2-4B80-8D48-20A48CCA36CF}"/>
    <pc:docChg chg="undo custSel delSld modSld">
      <pc:chgData name="Sandip Subedi" userId="2337b8ae5e237f83" providerId="LiveId" clId="{08D09BBC-58A2-4B80-8D48-20A48CCA36CF}" dt="2026-07-22T01:54:21.862" v="46" actId="20577"/>
      <pc:docMkLst>
        <pc:docMk/>
      </pc:docMkLst>
      <pc:sldChg chg="delSp modSp mod">
        <pc:chgData name="Sandip Subedi" userId="2337b8ae5e237f83" providerId="LiveId" clId="{08D09BBC-58A2-4B80-8D48-20A48CCA36CF}" dt="2026-07-22T01:47:13.618" v="22" actId="2711"/>
        <pc:sldMkLst>
          <pc:docMk/>
          <pc:sldMk cId="0" sldId="256"/>
        </pc:sldMkLst>
        <pc:spChg chg="del mod">
          <ac:chgData name="Sandip Subedi" userId="2337b8ae5e237f83" providerId="LiveId" clId="{08D09BBC-58A2-4B80-8D48-20A48CCA36CF}" dt="2026-07-22T01:46:19.981" v="18" actId="21"/>
          <ac:spMkLst>
            <pc:docMk/>
            <pc:sldMk cId="0" sldId="256"/>
            <ac:spMk id="3" creationId="{00000000-0000-0000-0000-000000000000}"/>
          </ac:spMkLst>
        </pc:spChg>
        <pc:spChg chg="mod">
          <ac:chgData name="Sandip Subedi" userId="2337b8ae5e237f83" providerId="LiveId" clId="{08D09BBC-58A2-4B80-8D48-20A48CCA36CF}" dt="2026-07-22T01:47:13.618" v="22" actId="2711"/>
          <ac:spMkLst>
            <pc:docMk/>
            <pc:sldMk cId="0" sldId="256"/>
            <ac:spMk id="4" creationId="{00000000-0000-0000-0000-000000000000}"/>
          </ac:spMkLst>
        </pc:spChg>
        <pc:spChg chg="mod">
          <ac:chgData name="Sandip Subedi" userId="2337b8ae5e237f83" providerId="LiveId" clId="{08D09BBC-58A2-4B80-8D48-20A48CCA36CF}" dt="2026-07-22T01:46:28.867" v="19" actId="1076"/>
          <ac:spMkLst>
            <pc:docMk/>
            <pc:sldMk cId="0" sldId="256"/>
            <ac:spMk id="5" creationId="{00000000-0000-0000-0000-000000000000}"/>
          </ac:spMkLst>
        </pc:spChg>
        <pc:spChg chg="mod">
          <ac:chgData name="Sandip Subedi" userId="2337b8ae5e237f83" providerId="LiveId" clId="{08D09BBC-58A2-4B80-8D48-20A48CCA36CF}" dt="2026-07-22T01:46:35.572" v="20" actId="1076"/>
          <ac:spMkLst>
            <pc:docMk/>
            <pc:sldMk cId="0" sldId="256"/>
            <ac:spMk id="6" creationId="{00000000-0000-0000-0000-000000000000}"/>
          </ac:spMkLst>
        </pc:spChg>
        <pc:picChg chg="mod">
          <ac:chgData name="Sandip Subedi" userId="2337b8ae5e237f83" providerId="LiveId" clId="{08D09BBC-58A2-4B80-8D48-20A48CCA36CF}" dt="2026-07-22T01:45:32.052" v="8" actId="14100"/>
          <ac:picMkLst>
            <pc:docMk/>
            <pc:sldMk cId="0" sldId="256"/>
            <ac:picMk id="2" creationId="{00000000-0000-0000-0000-000000000000}"/>
          </ac:picMkLst>
        </pc:picChg>
      </pc:sldChg>
      <pc:sldChg chg="modSp mod">
        <pc:chgData name="Sandip Subedi" userId="2337b8ae5e237f83" providerId="LiveId" clId="{08D09BBC-58A2-4B80-8D48-20A48CCA36CF}" dt="2026-07-22T01:47:51.752" v="26" actId="20577"/>
        <pc:sldMkLst>
          <pc:docMk/>
          <pc:sldMk cId="0" sldId="257"/>
        </pc:sldMkLst>
        <pc:spChg chg="mod">
          <ac:chgData name="Sandip Subedi" userId="2337b8ae5e237f83" providerId="LiveId" clId="{08D09BBC-58A2-4B80-8D48-20A48CCA36CF}" dt="2026-07-22T01:47:51.752" v="26" actId="20577"/>
          <ac:spMkLst>
            <pc:docMk/>
            <pc:sldMk cId="0" sldId="257"/>
            <ac:spMk id="4" creationId="{00000000-0000-0000-0000-000000000000}"/>
          </ac:spMkLst>
        </pc:spChg>
      </pc:sldChg>
      <pc:sldChg chg="del">
        <pc:chgData name="Sandip Subedi" userId="2337b8ae5e237f83" providerId="LiveId" clId="{08D09BBC-58A2-4B80-8D48-20A48CCA36CF}" dt="2026-07-22T01:50:43.165" v="31" actId="2696"/>
        <pc:sldMkLst>
          <pc:docMk/>
          <pc:sldMk cId="0" sldId="271"/>
        </pc:sldMkLst>
      </pc:sldChg>
      <pc:sldChg chg="modSp del mod">
        <pc:chgData name="Sandip Subedi" userId="2337b8ae5e237f83" providerId="LiveId" clId="{08D09BBC-58A2-4B80-8D48-20A48CCA36CF}" dt="2026-07-22T01:50:38.634" v="30" actId="2696"/>
        <pc:sldMkLst>
          <pc:docMk/>
          <pc:sldMk cId="0" sldId="272"/>
        </pc:sldMkLst>
        <pc:picChg chg="mod">
          <ac:chgData name="Sandip Subedi" userId="2337b8ae5e237f83" providerId="LiveId" clId="{08D09BBC-58A2-4B80-8D48-20A48CCA36CF}" dt="2026-07-22T01:50:01.507" v="29" actId="14100"/>
          <ac:picMkLst>
            <pc:docMk/>
            <pc:sldMk cId="0" sldId="272"/>
            <ac:picMk id="4" creationId="{00000000-0000-0000-0000-000000000000}"/>
          </ac:picMkLst>
        </pc:picChg>
      </pc:sldChg>
      <pc:sldChg chg="modSp mod">
        <pc:chgData name="Sandip Subedi" userId="2337b8ae5e237f83" providerId="LiveId" clId="{08D09BBC-58A2-4B80-8D48-20A48CCA36CF}" dt="2026-07-22T01:53:40.264" v="44" actId="20577"/>
        <pc:sldMkLst>
          <pc:docMk/>
          <pc:sldMk cId="0" sldId="273"/>
        </pc:sldMkLst>
        <pc:spChg chg="mod">
          <ac:chgData name="Sandip Subedi" userId="2337b8ae5e237f83" providerId="LiveId" clId="{08D09BBC-58A2-4B80-8D48-20A48CCA36CF}" dt="2026-07-22T01:51:02.493" v="35" actId="20577"/>
          <ac:spMkLst>
            <pc:docMk/>
            <pc:sldMk cId="0" sldId="273"/>
            <ac:spMk id="4" creationId="{00000000-0000-0000-0000-000000000000}"/>
          </ac:spMkLst>
        </pc:spChg>
        <pc:spChg chg="mod">
          <ac:chgData name="Sandip Subedi" userId="2337b8ae5e237f83" providerId="LiveId" clId="{08D09BBC-58A2-4B80-8D48-20A48CCA36CF}" dt="2026-07-22T01:53:40.264" v="44" actId="20577"/>
          <ac:spMkLst>
            <pc:docMk/>
            <pc:sldMk cId="0" sldId="273"/>
            <ac:spMk id="6" creationId="{00000000-0000-0000-0000-000000000000}"/>
          </ac:spMkLst>
        </pc:spChg>
        <pc:spChg chg="mod">
          <ac:chgData name="Sandip Subedi" userId="2337b8ae5e237f83" providerId="LiveId" clId="{08D09BBC-58A2-4B80-8D48-20A48CCA36CF}" dt="2026-07-22T01:52:09.014" v="42" actId="20577"/>
          <ac:spMkLst>
            <pc:docMk/>
            <pc:sldMk cId="0" sldId="273"/>
            <ac:spMk id="8" creationId="{00000000-0000-0000-0000-000000000000}"/>
          </ac:spMkLst>
        </pc:spChg>
      </pc:sldChg>
      <pc:sldChg chg="modSp mod">
        <pc:chgData name="Sandip Subedi" userId="2337b8ae5e237f83" providerId="LiveId" clId="{08D09BBC-58A2-4B80-8D48-20A48CCA36CF}" dt="2026-07-22T01:54:21.862" v="46" actId="20577"/>
        <pc:sldMkLst>
          <pc:docMk/>
          <pc:sldMk cId="0" sldId="274"/>
        </pc:sldMkLst>
        <pc:spChg chg="mod">
          <ac:chgData name="Sandip Subedi" userId="2337b8ae5e237f83" providerId="LiveId" clId="{08D09BBC-58A2-4B80-8D48-20A48CCA36CF}" dt="2026-07-22T01:54:21.862" v="46" actId="20577"/>
          <ac:spMkLst>
            <pc:docMk/>
            <pc:sldMk cId="0" sldId="274"/>
            <ac:spMk id="6" creationId="{00000000-0000-0000-0000-000000000000}"/>
          </ac:spMkLst>
        </pc:spChg>
      </pc:sldChg>
      <pc:sldChg chg="modSp mod">
        <pc:chgData name="Sandip Subedi" userId="2337b8ae5e237f83" providerId="LiveId" clId="{08D09BBC-58A2-4B80-8D48-20A48CCA36CF}" dt="2026-07-22T01:45:07.200" v="6" actId="20577"/>
        <pc:sldMkLst>
          <pc:docMk/>
          <pc:sldMk cId="0" sldId="275"/>
        </pc:sldMkLst>
        <pc:spChg chg="mod">
          <ac:chgData name="Sandip Subedi" userId="2337b8ae5e237f83" providerId="LiveId" clId="{08D09BBC-58A2-4B80-8D48-20A48CCA36CF}" dt="2026-07-22T01:45:07.200" v="6" actId="20577"/>
          <ac:spMkLst>
            <pc:docMk/>
            <pc:sldMk cId="0" sldId="275"/>
            <ac:spMk id="4" creationId="{00000000-0000-0000-0000-000000000000}"/>
          </ac:spMkLst>
        </pc:spChg>
      </pc:sldChg>
      <pc:sldChg chg="modSp mod">
        <pc:chgData name="Sandip Subedi" userId="2337b8ae5e237f83" providerId="LiveId" clId="{08D09BBC-58A2-4B80-8D48-20A48CCA36CF}" dt="2026-07-22T01:44:34.630" v="4" actId="20577"/>
        <pc:sldMkLst>
          <pc:docMk/>
          <pc:sldMk cId="0" sldId="278"/>
        </pc:sldMkLst>
        <pc:spChg chg="mod">
          <ac:chgData name="Sandip Subedi" userId="2337b8ae5e237f83" providerId="LiveId" clId="{08D09BBC-58A2-4B80-8D48-20A48CCA36CF}" dt="2026-07-22T01:44:34.630" v="4" actId="20577"/>
          <ac:spMkLst>
            <pc:docMk/>
            <pc:sldMk cId="0" sldId="278"/>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9885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pic>
        <p:nvPicPr>
          <p:cNvPr id="2" name="Image 0" descr="media/media/image1.png"/>
          <p:cNvPicPr>
            <a:picLocks noChangeAspect="1"/>
          </p:cNvPicPr>
          <p:nvPr/>
        </p:nvPicPr>
        <p:blipFill>
          <a:blip r:embed="rId3"/>
          <a:stretch>
            <a:fillRect/>
          </a:stretch>
        </p:blipFill>
        <p:spPr>
          <a:xfrm>
            <a:off x="6729984" y="0"/>
            <a:ext cx="5431536" cy="6858000"/>
          </a:xfrm>
          <a:prstGeom prst="rect">
            <a:avLst/>
          </a:prstGeom>
        </p:spPr>
      </p:pic>
      <p:sp>
        <p:nvSpPr>
          <p:cNvPr id="4" name="Text 1"/>
          <p:cNvSpPr/>
          <p:nvPr/>
        </p:nvSpPr>
        <p:spPr>
          <a:xfrm>
            <a:off x="210312" y="557784"/>
            <a:ext cx="6519672" cy="2377440"/>
          </a:xfrm>
          <a:prstGeom prst="rect">
            <a:avLst/>
          </a:prstGeom>
          <a:noFill/>
          <a:ln/>
        </p:spPr>
        <p:txBody>
          <a:bodyPr wrap="square" rtlCol="0" anchor="ctr"/>
          <a:lstStyle/>
          <a:p>
            <a:pPr marL="0" indent="0">
              <a:lnSpc>
                <a:spcPct val="115000"/>
              </a:lnSpc>
              <a:buNone/>
            </a:pPr>
            <a:r>
              <a:rPr lang="en-US" sz="3000" b="1" dirty="0">
                <a:solidFill>
                  <a:srgbClr val="FFFFFF"/>
                </a:solidFill>
                <a:latin typeface="Arial" pitchFamily="34" charset="0"/>
                <a:ea typeface="Arial" pitchFamily="34" charset="-122"/>
                <a:cs typeface="Arial" pitchFamily="34" charset="-120"/>
              </a:rPr>
              <a:t>CAREER READINESS, SKILL DEVELOPMENT &amp;</a:t>
            </a:r>
            <a:endParaRPr lang="en-US" sz="3000" dirty="0"/>
          </a:p>
          <a:p>
            <a:pPr marL="0" indent="0">
              <a:lnSpc>
                <a:spcPct val="115000"/>
              </a:lnSpc>
              <a:buNone/>
            </a:pPr>
            <a:r>
              <a:rPr lang="en-US" sz="3000" b="1" dirty="0">
                <a:solidFill>
                  <a:srgbClr val="FFFFFF"/>
                </a:solidFill>
                <a:latin typeface="Britannic Bold" panose="020B0903060703020204" pitchFamily="34" charset="0"/>
                <a:ea typeface="Arial" pitchFamily="34" charset="-122"/>
                <a:cs typeface="Arial" pitchFamily="34" charset="-120"/>
              </a:rPr>
              <a:t>CHALLENGES</a:t>
            </a:r>
            <a:r>
              <a:rPr lang="en-US" sz="3000" b="1" dirty="0">
                <a:solidFill>
                  <a:srgbClr val="FFFFFF"/>
                </a:solidFill>
                <a:latin typeface="Arial" pitchFamily="34" charset="0"/>
                <a:ea typeface="Arial" pitchFamily="34" charset="-122"/>
                <a:cs typeface="Arial" pitchFamily="34" charset="-120"/>
              </a:rPr>
              <a:t> </a:t>
            </a:r>
            <a:r>
              <a:rPr lang="en-US" sz="3000" b="1" dirty="0">
                <a:solidFill>
                  <a:srgbClr val="FFFFFF"/>
                </a:solidFill>
                <a:latin typeface="Britannic Bold" panose="020B0903060703020204" pitchFamily="34" charset="0"/>
                <a:ea typeface="Arial" pitchFamily="34" charset="-122"/>
                <a:cs typeface="Arial" pitchFamily="34" charset="-120"/>
              </a:rPr>
              <a:t>FACED</a:t>
            </a:r>
            <a:r>
              <a:rPr lang="en-US" sz="3000" b="1" dirty="0">
                <a:solidFill>
                  <a:srgbClr val="FFFFFF"/>
                </a:solidFill>
                <a:latin typeface="Arial" pitchFamily="34" charset="0"/>
                <a:ea typeface="Arial" pitchFamily="34" charset="-122"/>
                <a:cs typeface="Arial" pitchFamily="34" charset="-120"/>
              </a:rPr>
              <a:t> BY SEE AND +2</a:t>
            </a:r>
            <a:endParaRPr lang="en-US" sz="3000" dirty="0"/>
          </a:p>
          <a:p>
            <a:pPr marL="0" indent="0">
              <a:lnSpc>
                <a:spcPct val="115000"/>
              </a:lnSpc>
              <a:buNone/>
            </a:pPr>
            <a:r>
              <a:rPr lang="en-US" sz="3000" b="1" dirty="0">
                <a:solidFill>
                  <a:srgbClr val="FFFFFF"/>
                </a:solidFill>
                <a:latin typeface="Arial" pitchFamily="34" charset="0"/>
                <a:ea typeface="Arial" pitchFamily="34" charset="-122"/>
                <a:cs typeface="Arial" pitchFamily="34" charset="-120"/>
              </a:rPr>
              <a:t>GRADUATES IN NEPAL</a:t>
            </a:r>
            <a:endParaRPr lang="en-US" sz="3000" dirty="0"/>
          </a:p>
        </p:txBody>
      </p:sp>
      <p:sp>
        <p:nvSpPr>
          <p:cNvPr id="5" name="Text 2"/>
          <p:cNvSpPr/>
          <p:nvPr/>
        </p:nvSpPr>
        <p:spPr>
          <a:xfrm>
            <a:off x="1133856" y="3200400"/>
            <a:ext cx="6858000" cy="457200"/>
          </a:xfrm>
          <a:prstGeom prst="rect">
            <a:avLst/>
          </a:prstGeom>
          <a:noFill/>
          <a:ln/>
        </p:spPr>
        <p:txBody>
          <a:bodyPr wrap="square" rtlCol="0" anchor="ctr"/>
          <a:lstStyle/>
          <a:p>
            <a:pPr marL="0" indent="0">
              <a:buNone/>
            </a:pPr>
            <a:r>
              <a:rPr lang="en-US" sz="1800" i="1" dirty="0">
                <a:solidFill>
                  <a:srgbClr val="D7DEE9"/>
                </a:solidFill>
                <a:latin typeface="Arial" pitchFamily="34" charset="0"/>
                <a:ea typeface="Arial" pitchFamily="34" charset="-122"/>
                <a:cs typeface="Arial" pitchFamily="34" charset="-120"/>
              </a:rPr>
              <a:t>A Data Science Research Report</a:t>
            </a:r>
            <a:endParaRPr lang="en-US" sz="1800" dirty="0"/>
          </a:p>
        </p:txBody>
      </p:sp>
      <p:sp>
        <p:nvSpPr>
          <p:cNvPr id="6" name="Text 3"/>
          <p:cNvSpPr/>
          <p:nvPr/>
        </p:nvSpPr>
        <p:spPr>
          <a:xfrm>
            <a:off x="502920" y="3557016"/>
            <a:ext cx="6858000" cy="365760"/>
          </a:xfrm>
          <a:prstGeom prst="rect">
            <a:avLst/>
          </a:prstGeom>
          <a:noFill/>
          <a:ln/>
        </p:spPr>
        <p:txBody>
          <a:bodyPr wrap="square" rtlCol="0" anchor="ctr"/>
          <a:lstStyle/>
          <a:p>
            <a:pPr marL="0" indent="0">
              <a:buNone/>
            </a:pPr>
            <a:r>
              <a:rPr lang="en-US" sz="1300" dirty="0">
                <a:solidFill>
                  <a:srgbClr val="9FAEC4"/>
                </a:solidFill>
                <a:latin typeface="Arial" pitchFamily="34" charset="0"/>
                <a:ea typeface="Arial" pitchFamily="34" charset="-122"/>
                <a:cs typeface="Arial" pitchFamily="34" charset="-120"/>
              </a:rPr>
              <a:t>Survey sample: n = 167  •  Distributed via Google Form, mid-2026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Abstract</a:t>
            </a:r>
            <a:endParaRPr lang="en-US" sz="2800" dirty="0"/>
          </a:p>
        </p:txBody>
      </p:sp>
      <p:sp>
        <p:nvSpPr>
          <p:cNvPr id="3" name="Text 1"/>
          <p:cNvSpPr/>
          <p:nvPr/>
        </p:nvSpPr>
        <p:spPr>
          <a:xfrm>
            <a:off x="548640" y="1554480"/>
            <a:ext cx="11064240" cy="2103120"/>
          </a:xfrm>
          <a:prstGeom prst="rect">
            <a:avLst/>
          </a:prstGeom>
          <a:noFill/>
          <a:ln/>
        </p:spPr>
        <p:txBody>
          <a:bodyPr wrap="square" rtlCol="0" anchor="t"/>
          <a:lstStyle/>
          <a:p>
            <a:pPr marL="0" indent="0">
              <a:lnSpc>
                <a:spcPct val="120000"/>
              </a:lnSpc>
              <a:buNone/>
            </a:pPr>
            <a:r>
              <a:rPr lang="en-US" sz="1700" dirty="0">
                <a:solidFill>
                  <a:srgbClr val="333333"/>
                </a:solidFill>
                <a:latin typeface="Arial" pitchFamily="34" charset="0"/>
                <a:ea typeface="Arial" pitchFamily="34" charset="-122"/>
                <a:cs typeface="Arial" pitchFamily="34" charset="-120"/>
              </a:rPr>
              <a:t>This report analyzes 167 survey responses from Nepali students who have recently completed their SEE or +2 examinations, examining what skills they are building, how they build them, the obstacles they face, and how “career-ready” they feel. A composite Career Readiness Score (0–100) was engineered from four self-reported attitude measures, skill-building effort, and challenge burden, then a Random Forest model was used to test which demographic and behavioral factors best predict that score.</a:t>
            </a:r>
            <a:endParaRPr lang="en-US" sz="1700" dirty="0"/>
          </a:p>
        </p:txBody>
      </p:sp>
      <p:sp>
        <p:nvSpPr>
          <p:cNvPr id="4" name="Text 2"/>
          <p:cNvSpPr/>
          <p:nvPr/>
        </p:nvSpPr>
        <p:spPr>
          <a:xfrm>
            <a:off x="548640" y="3794760"/>
            <a:ext cx="11064240" cy="2103120"/>
          </a:xfrm>
          <a:prstGeom prst="rect">
            <a:avLst/>
          </a:prstGeom>
          <a:noFill/>
          <a:ln/>
        </p:spPr>
        <p:txBody>
          <a:bodyPr wrap="square" rtlCol="0" anchor="t"/>
          <a:lstStyle/>
          <a:p>
            <a:pPr marL="0" indent="0">
              <a:lnSpc>
                <a:spcPct val="120000"/>
              </a:lnSpc>
              <a:buNone/>
            </a:pPr>
            <a:r>
              <a:rPr lang="en-US" sz="1700" dirty="0">
                <a:solidFill>
                  <a:srgbClr val="333333"/>
                </a:solidFill>
                <a:latin typeface="Arial" pitchFamily="34" charset="0"/>
                <a:ea typeface="Arial" pitchFamily="34" charset="-122"/>
                <a:cs typeface="Arial" pitchFamily="34" charset="-120"/>
              </a:rPr>
              <a:t>The sample skews toward Bagmati province and digitally-engaged students reached through social media, so findings should be read as indicative rather than nationally representative. The headline result: financial constraints and a lack of networking or mentorship — not lack of interest or GPA — are the dominant barriers, and structural factors (education-system perception, learning source, provincial context) predict readiness at least as strongly as personal effort.</a:t>
            </a:r>
            <a:endParaRPr lang="en-US" sz="1700" dirty="0"/>
          </a:p>
        </p:txBody>
      </p:sp>
      <p:sp>
        <p:nvSpPr>
          <p:cNvPr id="5" name="Text 3"/>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1</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Introduction &amp; Motivation</a:t>
            </a:r>
            <a:endParaRPr lang="en-US" sz="2800" dirty="0"/>
          </a:p>
        </p:txBody>
      </p:sp>
      <p:sp>
        <p:nvSpPr>
          <p:cNvPr id="4" name="Text 2"/>
          <p:cNvSpPr/>
          <p:nvPr/>
        </p:nvSpPr>
        <p:spPr>
          <a:xfrm>
            <a:off x="548640" y="1463040"/>
            <a:ext cx="11064240" cy="1920240"/>
          </a:xfrm>
          <a:prstGeom prst="rect">
            <a:avLst/>
          </a:prstGeom>
          <a:noFill/>
          <a:ln/>
        </p:spPr>
        <p:txBody>
          <a:bodyPr wrap="square" rtlCol="0" anchor="t"/>
          <a:lstStyle/>
          <a:p>
            <a:pPr marL="0" indent="0">
              <a:lnSpc>
                <a:spcPct val="120000"/>
              </a:lnSpc>
              <a:buNone/>
            </a:pPr>
            <a:r>
              <a:rPr lang="en-US" sz="1550" dirty="0">
                <a:solidFill>
                  <a:srgbClr val="333333"/>
                </a:solidFill>
                <a:latin typeface="Arial" pitchFamily="34" charset="0"/>
                <a:ea typeface="Arial" pitchFamily="34" charset="-122"/>
                <a:cs typeface="Arial" pitchFamily="34" charset="-120"/>
              </a:rPr>
              <a:t>Every year, hundreds of thousands of students in Nepal complete their Secondary Education Examination (SEE) or +2 (higher secondary) studies and face a pivotal transition: choosing further education, professional skill-building, or entering the workforce, often with limited structured guidance. Anecdotally, graduates report feeling unprepared for the job market despite strong academic performance, but there is little systematic data on what skills they are actually pursuing, why, and what specifically holds them back.</a:t>
            </a:r>
            <a:endParaRPr lang="en-US" sz="1550" dirty="0"/>
          </a:p>
        </p:txBody>
      </p:sp>
      <p:sp>
        <p:nvSpPr>
          <p:cNvPr id="5" name="Text 3"/>
          <p:cNvSpPr/>
          <p:nvPr/>
        </p:nvSpPr>
        <p:spPr>
          <a:xfrm>
            <a:off x="548640" y="3429000"/>
            <a:ext cx="11064240" cy="365760"/>
          </a:xfrm>
          <a:prstGeom prst="rect">
            <a:avLst/>
          </a:prstGeom>
          <a:noFill/>
          <a:ln/>
        </p:spPr>
        <p:txBody>
          <a:bodyPr wrap="square" rtlCol="0" anchor="ctr"/>
          <a:lstStyle/>
          <a:p>
            <a:pPr marL="0" indent="0">
              <a:buNone/>
            </a:pPr>
            <a:r>
              <a:rPr lang="en-US" sz="1550" b="1" dirty="0">
                <a:solidFill>
                  <a:srgbClr val="1F3864"/>
                </a:solidFill>
                <a:latin typeface="Arial" pitchFamily="34" charset="0"/>
                <a:ea typeface="Arial" pitchFamily="34" charset="-122"/>
                <a:cs typeface="Arial" pitchFamily="34" charset="-120"/>
              </a:rPr>
              <a:t>This project set out to answer three questions:</a:t>
            </a:r>
            <a:endParaRPr lang="en-US" sz="1550" dirty="0"/>
          </a:p>
        </p:txBody>
      </p:sp>
      <p:sp>
        <p:nvSpPr>
          <p:cNvPr id="6" name="Text 4"/>
          <p:cNvSpPr/>
          <p:nvPr/>
        </p:nvSpPr>
        <p:spPr>
          <a:xfrm>
            <a:off x="548640" y="3840480"/>
            <a:ext cx="11064240" cy="1463040"/>
          </a:xfrm>
          <a:prstGeom prst="rect">
            <a:avLst/>
          </a:prstGeom>
          <a:noFill/>
          <a:ln/>
        </p:spPr>
        <p:txBody>
          <a:bodyPr wrap="square" rtlCol="0" anchor="t"/>
          <a:lstStyle/>
          <a:p>
            <a:pPr marL="228600" indent="-228600">
              <a:lnSpc>
                <a:spcPct val="115000"/>
              </a:lnSpc>
              <a:spcAft>
                <a:spcPts val="1000"/>
              </a:spcAft>
              <a:buSzPct val="100000"/>
              <a:buChar char="●"/>
            </a:pPr>
            <a:r>
              <a:rPr lang="en-US" sz="1550" dirty="0">
                <a:solidFill>
                  <a:srgbClr val="333333"/>
                </a:solidFill>
                <a:latin typeface="Arial" pitchFamily="34" charset="0"/>
                <a:ea typeface="Arial" pitchFamily="34" charset="-122"/>
                <a:cs typeface="Arial" pitchFamily="34" charset="-120"/>
              </a:rPr>
              <a:t>What skills are SEE/+2 graduates developing, and through what channels?</a:t>
            </a:r>
            <a:endParaRPr lang="en-US" sz="1550" dirty="0"/>
          </a:p>
          <a:p>
            <a:pPr marL="228600" indent="-228600">
              <a:lnSpc>
                <a:spcPct val="115000"/>
              </a:lnSpc>
              <a:spcAft>
                <a:spcPts val="1000"/>
              </a:spcAft>
              <a:buSzPct val="100000"/>
              <a:buChar char="●"/>
            </a:pPr>
            <a:r>
              <a:rPr lang="en-US" sz="1550" dirty="0">
                <a:solidFill>
                  <a:srgbClr val="333333"/>
                </a:solidFill>
                <a:latin typeface="Arial" pitchFamily="34" charset="0"/>
                <a:ea typeface="Arial" pitchFamily="34" charset="-122"/>
                <a:cs typeface="Arial" pitchFamily="34" charset="-120"/>
              </a:rPr>
              <a:t>What are the biggest challenges they face in becoming career-ready, and does this vary by province or academic stream?</a:t>
            </a:r>
            <a:endParaRPr lang="en-US" sz="1550" dirty="0"/>
          </a:p>
          <a:p>
            <a:pPr marL="228600" indent="-228600">
              <a:lnSpc>
                <a:spcPct val="115000"/>
              </a:lnSpc>
              <a:spcAft>
                <a:spcPts val="1000"/>
              </a:spcAft>
              <a:buSzPct val="100000"/>
              <a:buChar char="●"/>
            </a:pPr>
            <a:r>
              <a:rPr lang="en-US" sz="1550" dirty="0">
                <a:solidFill>
                  <a:srgbClr val="333333"/>
                </a:solidFill>
                <a:latin typeface="Arial" pitchFamily="34" charset="0"/>
                <a:ea typeface="Arial" pitchFamily="34" charset="-122"/>
                <a:cs typeface="Arial" pitchFamily="34" charset="-120"/>
              </a:rPr>
              <a:t>How career-ready do graduates feel overall, and which demographic or behavioral factors best predict that feeling?</a:t>
            </a:r>
            <a:endParaRPr lang="en-US" sz="1550" dirty="0"/>
          </a:p>
        </p:txBody>
      </p:sp>
      <p:sp>
        <p:nvSpPr>
          <p:cNvPr id="7" name="Text 5"/>
          <p:cNvSpPr/>
          <p:nvPr/>
        </p:nvSpPr>
        <p:spPr>
          <a:xfrm>
            <a:off x="548640" y="5440680"/>
            <a:ext cx="11064240" cy="1188720"/>
          </a:xfrm>
          <a:prstGeom prst="rect">
            <a:avLst/>
          </a:prstGeom>
          <a:noFill/>
          <a:ln/>
        </p:spPr>
        <p:txBody>
          <a:bodyPr wrap="square" rtlCol="0" anchor="t"/>
          <a:lstStyle/>
          <a:p>
            <a:pPr marL="0" indent="0">
              <a:lnSpc>
                <a:spcPct val="120000"/>
              </a:lnSpc>
              <a:buNone/>
            </a:pPr>
            <a:r>
              <a:rPr lang="en-US" sz="1450" dirty="0">
                <a:solidFill>
                  <a:srgbClr val="333333"/>
                </a:solidFill>
                <a:latin typeface="Arial" pitchFamily="34" charset="0"/>
                <a:ea typeface="Arial" pitchFamily="34" charset="-122"/>
                <a:cs typeface="Arial" pitchFamily="34" charset="-120"/>
              </a:rPr>
              <a:t>To answer these, a 23-question Google Form survey was distributed (primarily via an Instagram channel), collecting 171 raw responses. The data was cleaned, explored, engineered into a composite readiness score, and modeled with basic machine learning to surface the strongest predictors — all detailed in the sections that follow.</a:t>
            </a:r>
            <a:endParaRPr lang="en-US" sz="1450" dirty="0"/>
          </a:p>
        </p:txBody>
      </p:sp>
      <p:sp>
        <p:nvSpPr>
          <p:cNvPr id="8" name="Text 6"/>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2 — METHODOLOGY</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a) Survey Design &amp; Sample</a:t>
            </a:r>
            <a:endParaRPr lang="en-US" sz="2800" dirty="0"/>
          </a:p>
        </p:txBody>
      </p:sp>
      <p:sp>
        <p:nvSpPr>
          <p:cNvPr id="4" name="Text 2"/>
          <p:cNvSpPr/>
          <p:nvPr/>
        </p:nvSpPr>
        <p:spPr>
          <a:xfrm>
            <a:off x="548640" y="1554480"/>
            <a:ext cx="11064240" cy="2743200"/>
          </a:xfrm>
          <a:prstGeom prst="rect">
            <a:avLst/>
          </a:prstGeom>
          <a:noFill/>
          <a:ln/>
        </p:spPr>
        <p:txBody>
          <a:bodyPr wrap="square" rtlCol="0" anchor="t"/>
          <a:lstStyle/>
          <a:p>
            <a:pPr marL="0" indent="0">
              <a:lnSpc>
                <a:spcPct val="120000"/>
              </a:lnSpc>
              <a:buNone/>
            </a:pPr>
            <a:r>
              <a:rPr lang="en-US" sz="1600" dirty="0">
                <a:solidFill>
                  <a:srgbClr val="333333"/>
                </a:solidFill>
                <a:latin typeface="Arial" pitchFamily="34" charset="0"/>
                <a:ea typeface="Arial" pitchFamily="34" charset="-122"/>
                <a:cs typeface="Arial" pitchFamily="34" charset="-120"/>
              </a:rPr>
              <a:t>The survey (Q1–Q23) captured consent, demographics (age, gender, province, education level, stream, GPA), current activity, skill-building behavior (hours/week, which skills, why, and where learned), four Likert-scale career-awareness items (clarity, market awareness, perceived education support, confidence), top challenges and their frequency, career interest, a 5-year vision (open text), a view on whether Nepal's education system adequately prepares students, the single biggest obstacle, and open advice for peers.</a:t>
            </a:r>
            <a:endParaRPr lang="en-US" sz="1600" dirty="0"/>
          </a:p>
        </p:txBody>
      </p:sp>
      <p:sp>
        <p:nvSpPr>
          <p:cNvPr id="5" name="Text 3"/>
          <p:cNvSpPr/>
          <p:nvPr/>
        </p:nvSpPr>
        <p:spPr>
          <a:xfrm>
            <a:off x="548640" y="4480560"/>
            <a:ext cx="11064240" cy="1280160"/>
          </a:xfrm>
          <a:prstGeom prst="rect">
            <a:avLst/>
          </a:prstGeom>
          <a:noFill/>
          <a:ln/>
        </p:spPr>
        <p:txBody>
          <a:bodyPr wrap="square" rtlCol="0" anchor="t"/>
          <a:lstStyle/>
          <a:p>
            <a:pPr marL="0" indent="0">
              <a:lnSpc>
                <a:spcPct val="120000"/>
              </a:lnSpc>
              <a:buNone/>
            </a:pPr>
            <a:r>
              <a:rPr lang="en-US" sz="1600" dirty="0">
                <a:solidFill>
                  <a:srgbClr val="333333"/>
                </a:solidFill>
                <a:latin typeface="Arial" pitchFamily="34" charset="0"/>
                <a:ea typeface="Arial" pitchFamily="34" charset="-122"/>
                <a:cs typeface="Arial" pitchFamily="34" charset="-120"/>
              </a:rPr>
              <a:t>Of 171 raw submissions, 3 were dropped for missing consent and 1 for leaving all four career-awareness questions blank, leaving a final analytic sample of 167 responses. No exact-duplicate submissions were found.</a:t>
            </a:r>
            <a:endParaRPr lang="en-US" sz="1600" dirty="0"/>
          </a:p>
        </p:txBody>
      </p:sp>
      <p:sp>
        <p:nvSpPr>
          <p:cNvPr id="6" name="Text 4"/>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2 — METHODOLOGY</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b) Data Cleaning</a:t>
            </a:r>
            <a:endParaRPr lang="en-US" sz="2800" dirty="0"/>
          </a:p>
        </p:txBody>
      </p:sp>
      <p:sp>
        <p:nvSpPr>
          <p:cNvPr id="4" name="Text 2"/>
          <p:cNvSpPr/>
          <p:nvPr/>
        </p:nvSpPr>
        <p:spPr>
          <a:xfrm>
            <a:off x="548640" y="1463040"/>
            <a:ext cx="11064240" cy="640080"/>
          </a:xfrm>
          <a:prstGeom prst="rect">
            <a:avLst/>
          </a:prstGeom>
          <a:noFill/>
          <a:ln/>
        </p:spPr>
        <p:txBody>
          <a:bodyPr wrap="square" rtlCol="0" anchor="t"/>
          <a:lstStyle/>
          <a:p>
            <a:pPr marL="0" indent="0">
              <a:lnSpc>
                <a:spcPct val="120000"/>
              </a:lnSpc>
              <a:buNone/>
            </a:pPr>
            <a:r>
              <a:rPr lang="en-US" sz="1550" dirty="0">
                <a:solidFill>
                  <a:srgbClr val="333333"/>
                </a:solidFill>
                <a:latin typeface="Arial" pitchFamily="34" charset="0"/>
                <a:ea typeface="Arial" pitchFamily="34" charset="-122"/>
                <a:cs typeface="Arial" pitchFamily="34" charset="-120"/>
              </a:rPr>
              <a:t>Google Forms exports full question text as column headers and stores multi-select (checkbox) answers as a single semicolon-separated string per cell. Cleaning involved:</a:t>
            </a:r>
            <a:endParaRPr lang="en-US" sz="1550" dirty="0"/>
          </a:p>
        </p:txBody>
      </p:sp>
      <p:sp>
        <p:nvSpPr>
          <p:cNvPr id="5" name="Text 3"/>
          <p:cNvSpPr/>
          <p:nvPr/>
        </p:nvSpPr>
        <p:spPr>
          <a:xfrm>
            <a:off x="548640" y="2103120"/>
            <a:ext cx="11064240" cy="3291840"/>
          </a:xfrm>
          <a:prstGeom prst="rect">
            <a:avLst/>
          </a:prstGeom>
          <a:noFill/>
          <a:ln/>
        </p:spPr>
        <p:txBody>
          <a:bodyPr wrap="square" rtlCol="0" anchor="t"/>
          <a:lstStyle/>
          <a:p>
            <a:pPr marL="228600" indent="-228600">
              <a:lnSpc>
                <a:spcPct val="115000"/>
              </a:lnSpc>
              <a:spcAft>
                <a:spcPts val="1000"/>
              </a:spcAft>
              <a:buSzPct val="100000"/>
              <a:buChar char="●"/>
            </a:pPr>
            <a:r>
              <a:rPr lang="en-US" sz="1450" dirty="0">
                <a:solidFill>
                  <a:srgbClr val="333333"/>
                </a:solidFill>
                <a:latin typeface="Arial" pitchFamily="34" charset="0"/>
                <a:ea typeface="Arial" pitchFamily="34" charset="-122"/>
                <a:cs typeface="Arial" pitchFamily="34" charset="-120"/>
              </a:rPr>
              <a:t>Renaming all 23 question columns to short, code-friendly snake_case names.</a:t>
            </a:r>
            <a:endParaRPr lang="en-US" sz="1450" dirty="0"/>
          </a:p>
          <a:p>
            <a:pPr marL="228600" indent="-228600">
              <a:lnSpc>
                <a:spcPct val="115000"/>
              </a:lnSpc>
              <a:spcAft>
                <a:spcPts val="1000"/>
              </a:spcAft>
              <a:buSzPct val="100000"/>
              <a:buChar char="●"/>
            </a:pPr>
            <a:r>
              <a:rPr lang="en-US" sz="1450" dirty="0">
                <a:solidFill>
                  <a:srgbClr val="333333"/>
                </a:solidFill>
                <a:latin typeface="Arial" pitchFamily="34" charset="0"/>
                <a:ea typeface="Arial" pitchFamily="34" charset="-122"/>
                <a:cs typeface="Arial" pitchFamily="34" charset="-120"/>
              </a:rPr>
              <a:t>Converting bucketed answers (age, GPA, weekly skill hours) into numeric midpoints for correlation and modeling use, while keeping the original bucket label for grouping/display.</a:t>
            </a:r>
            <a:endParaRPr lang="en-US" sz="1450" dirty="0"/>
          </a:p>
          <a:p>
            <a:pPr marL="228600" indent="-228600">
              <a:lnSpc>
                <a:spcPct val="115000"/>
              </a:lnSpc>
              <a:spcAft>
                <a:spcPts val="1000"/>
              </a:spcAft>
              <a:buSzPct val="100000"/>
              <a:buChar char="●"/>
            </a:pPr>
            <a:r>
              <a:rPr lang="en-US" sz="1450" dirty="0">
                <a:solidFill>
                  <a:srgbClr val="333333"/>
                </a:solidFill>
                <a:latin typeface="Arial" pitchFamily="34" charset="0"/>
                <a:ea typeface="Arial" pitchFamily="34" charset="-122"/>
                <a:cs typeface="Arial" pitchFamily="34" charset="-120"/>
              </a:rPr>
              <a:t>Exploding four multi-select questions (skills learning, learning reasons, learning sources, top challenges) into 34 individual binary (0/1) columns — one per option — with rare free-text "Other" answers normalized where they clearly duplicated an existing option.</a:t>
            </a:r>
            <a:endParaRPr lang="en-US" sz="1450" dirty="0"/>
          </a:p>
          <a:p>
            <a:pPr marL="228600" indent="-228600">
              <a:lnSpc>
                <a:spcPct val="115000"/>
              </a:lnSpc>
              <a:spcAft>
                <a:spcPts val="1000"/>
              </a:spcAft>
              <a:buSzPct val="100000"/>
              <a:buChar char="●"/>
            </a:pPr>
            <a:r>
              <a:rPr lang="en-US" sz="1450" dirty="0">
                <a:solidFill>
                  <a:srgbClr val="333333"/>
                </a:solidFill>
                <a:latin typeface="Arial" pitchFamily="34" charset="0"/>
                <a:ea typeface="Arial" pitchFamily="34" charset="-122"/>
                <a:cs typeface="Arial" pitchFamily="34" charset="-120"/>
              </a:rPr>
              <a:t>Mapping challenge_frequency (Never/Sometimes/Frequently/Always) to an ordinal 0–3 scale.</a:t>
            </a:r>
            <a:endParaRPr lang="en-US" sz="1450" dirty="0"/>
          </a:p>
          <a:p>
            <a:pPr marL="228600" indent="-228600">
              <a:lnSpc>
                <a:spcPct val="115000"/>
              </a:lnSpc>
              <a:spcAft>
                <a:spcPts val="1000"/>
              </a:spcAft>
              <a:buSzPct val="100000"/>
              <a:buChar char="●"/>
            </a:pPr>
            <a:r>
              <a:rPr lang="en-US" sz="1450" dirty="0">
                <a:solidFill>
                  <a:srgbClr val="333333"/>
                </a:solidFill>
                <a:latin typeface="Arial" pitchFamily="34" charset="0"/>
                <a:ea typeface="Arial" pitchFamily="34" charset="-122"/>
                <a:cs typeface="Arial" pitchFamily="34" charset="-120"/>
              </a:rPr>
              <a:t>Dropping rows with no consent or with all four core Likert items blank; open-text fields were left as-is for qualitative reading, not fed into any model.</a:t>
            </a:r>
            <a:endParaRPr lang="en-US" sz="1450" dirty="0"/>
          </a:p>
        </p:txBody>
      </p:sp>
      <p:sp>
        <p:nvSpPr>
          <p:cNvPr id="6" name="Text 4"/>
          <p:cNvSpPr/>
          <p:nvPr/>
        </p:nvSpPr>
        <p:spPr>
          <a:xfrm>
            <a:off x="548640" y="5486400"/>
            <a:ext cx="11064240" cy="822960"/>
          </a:xfrm>
          <a:prstGeom prst="rect">
            <a:avLst/>
          </a:prstGeom>
          <a:noFill/>
          <a:ln/>
        </p:spPr>
        <p:txBody>
          <a:bodyPr wrap="square" rtlCol="0" anchor="t"/>
          <a:lstStyle/>
          <a:p>
            <a:pPr marL="0" indent="0">
              <a:lnSpc>
                <a:spcPct val="120000"/>
              </a:lnSpc>
              <a:buNone/>
            </a:pPr>
            <a:r>
              <a:rPr lang="en-US" sz="1450" dirty="0">
                <a:solidFill>
                  <a:srgbClr val="333333"/>
                </a:solidFill>
                <a:latin typeface="Arial" pitchFamily="34" charset="0"/>
                <a:ea typeface="Arial" pitchFamily="34" charset="-122"/>
                <a:cs typeface="Arial" pitchFamily="34" charset="-120"/>
              </a:rPr>
              <a:t>This produced a clean, analysis-ready dataset of 167 rows × 66 columns, saved as cleaned_data.csv, with a full column dictionary provided in the Appendix.</a:t>
            </a:r>
            <a:endParaRPr lang="en-US" sz="1450" dirty="0"/>
          </a:p>
        </p:txBody>
      </p:sp>
      <p:sp>
        <p:nvSpPr>
          <p:cNvPr id="7" name="Text 5"/>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2 — METHODOLOGY</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c) Analytical Approach</a:t>
            </a:r>
            <a:endParaRPr lang="en-US" sz="2800" dirty="0"/>
          </a:p>
        </p:txBody>
      </p:sp>
      <p:sp>
        <p:nvSpPr>
          <p:cNvPr id="4" name="Text 2"/>
          <p:cNvSpPr/>
          <p:nvPr/>
        </p:nvSpPr>
        <p:spPr>
          <a:xfrm>
            <a:off x="548640" y="2194560"/>
            <a:ext cx="11064240" cy="2743200"/>
          </a:xfrm>
          <a:prstGeom prst="rect">
            <a:avLst/>
          </a:prstGeom>
          <a:noFill/>
          <a:ln/>
        </p:spPr>
        <p:txBody>
          <a:bodyPr wrap="square" rtlCol="0" anchor="t"/>
          <a:lstStyle/>
          <a:p>
            <a:pPr marL="0" indent="0">
              <a:lnSpc>
                <a:spcPct val="120000"/>
              </a:lnSpc>
              <a:buNone/>
            </a:pPr>
            <a:r>
              <a:rPr lang="en-US" sz="1800" dirty="0">
                <a:solidFill>
                  <a:srgbClr val="333333"/>
                </a:solidFill>
                <a:latin typeface="Arial" pitchFamily="34" charset="0"/>
                <a:ea typeface="Arial" pitchFamily="34" charset="-122"/>
                <a:cs typeface="Arial" pitchFamily="34" charset="-120"/>
              </a:rPr>
              <a:t>The analysis proceeds in three stages: (1) exploratory data analysis (EDA) to understand sample composition, skill-building patterns, and challenges; (2) feature engineering of a transparent, weighted Career Readiness Score; and (3) machine-learning modeling to identify which non-attitudinal factors (demographics, learning behavior, career interest) best predict that score, using Linear Regression as an interpretable baseline and Random Forest to capture non-linear patterns and rank feature importance.</a:t>
            </a:r>
            <a:endParaRPr lang="en-US" sz="1800" dirty="0"/>
          </a:p>
        </p:txBody>
      </p:sp>
      <p:sp>
        <p:nvSpPr>
          <p:cNvPr id="5" name="Text 3"/>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3 — EDA</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a) Who Responded? (Demographics)</a:t>
            </a:r>
            <a:endParaRPr lang="en-US" sz="2800" dirty="0"/>
          </a:p>
        </p:txBody>
      </p:sp>
      <p:pic>
        <p:nvPicPr>
          <p:cNvPr id="4" name="Image 0" descr="media/media/image2.png"/>
          <p:cNvPicPr>
            <a:picLocks noChangeAspect="1"/>
          </p:cNvPicPr>
          <p:nvPr/>
        </p:nvPicPr>
        <p:blipFill>
          <a:blip r:embed="rId3"/>
          <a:stretch>
            <a:fillRect/>
          </a:stretch>
        </p:blipFill>
        <p:spPr>
          <a:xfrm>
            <a:off x="548640" y="1554480"/>
            <a:ext cx="5730240" cy="4297680"/>
          </a:xfrm>
          <a:prstGeom prst="rect">
            <a:avLst/>
          </a:prstGeom>
        </p:spPr>
      </p:pic>
      <p:sp>
        <p:nvSpPr>
          <p:cNvPr id="5" name="Text 2"/>
          <p:cNvSpPr/>
          <p:nvPr/>
        </p:nvSpPr>
        <p:spPr>
          <a:xfrm>
            <a:off x="548640" y="5897880"/>
            <a:ext cx="5730240" cy="365760"/>
          </a:xfrm>
          <a:prstGeom prst="rect">
            <a:avLst/>
          </a:prstGeom>
          <a:noFill/>
          <a:ln/>
        </p:spPr>
        <p:txBody>
          <a:bodyPr wrap="square" rtlCol="0" anchor="ctr"/>
          <a:lstStyle/>
          <a:p>
            <a:pPr marL="0" indent="0" algn="l">
              <a:buNone/>
            </a:pPr>
            <a:r>
              <a:rPr lang="en-US" sz="1250" i="1" dirty="0">
                <a:solidFill>
                  <a:srgbClr val="5B5B5B"/>
                </a:solidFill>
                <a:latin typeface="Arial" pitchFamily="34" charset="0"/>
                <a:ea typeface="Arial" pitchFamily="34" charset="-122"/>
                <a:cs typeface="Arial" pitchFamily="34" charset="-120"/>
              </a:rPr>
              <a:t>Figure 1. Respondent counts by province, gender, education level, and stream.</a:t>
            </a:r>
            <a:endParaRPr lang="en-US" sz="1250" dirty="0"/>
          </a:p>
        </p:txBody>
      </p:sp>
      <p:sp>
        <p:nvSpPr>
          <p:cNvPr id="6" name="Text 3"/>
          <p:cNvSpPr/>
          <p:nvPr/>
        </p:nvSpPr>
        <p:spPr>
          <a:xfrm>
            <a:off x="6858000" y="1554480"/>
            <a:ext cx="4754880" cy="4754880"/>
          </a:xfrm>
          <a:prstGeom prst="rect">
            <a:avLst/>
          </a:prstGeom>
          <a:noFill/>
          <a:ln/>
        </p:spPr>
        <p:txBody>
          <a:bodyPr wrap="square" rtlCol="0" anchor="t"/>
          <a:lstStyle/>
          <a:p>
            <a:pPr marL="0" indent="0">
              <a:lnSpc>
                <a:spcPct val="120000"/>
              </a:lnSpc>
              <a:buNone/>
            </a:pPr>
            <a:r>
              <a:rPr lang="en-US" sz="1400" dirty="0">
                <a:solidFill>
                  <a:srgbClr val="333333"/>
                </a:solidFill>
                <a:latin typeface="Arial" pitchFamily="34" charset="0"/>
                <a:ea typeface="Arial" pitchFamily="34" charset="-122"/>
                <a:cs typeface="Arial" pitchFamily="34" charset="-120"/>
              </a:rPr>
              <a:t>The sample is dominated by Bagmati province (62 of 167 respondents, 37%), with Gandaki (30) and Madesh (29) next, and Karnali (7) and Sudurpaschim (8) least represented. This mirrors the outreach channel (a single Instagram account, likely followed disproportionately by Kathmandu-valley students) rather than Nepal's actual population distribution — a sampling bias kept in mind throughout.</a:t>
            </a:r>
            <a:endParaRPr lang="en-US" sz="1400" dirty="0"/>
          </a:p>
          <a:p>
            <a:pPr marL="0" indent="0">
              <a:lnSpc>
                <a:spcPct val="120000"/>
              </a:lnSpc>
              <a:buNone/>
            </a:pPr>
            <a:endParaRPr lang="en-US" sz="1400" dirty="0"/>
          </a:p>
          <a:p>
            <a:pPr marL="0" indent="0">
              <a:lnSpc>
                <a:spcPct val="120000"/>
              </a:lnSpc>
              <a:buNone/>
            </a:pPr>
            <a:r>
              <a:rPr lang="en-US" sz="1400" dirty="0">
                <a:solidFill>
                  <a:srgbClr val="333333"/>
                </a:solidFill>
                <a:latin typeface="Arial" pitchFamily="34" charset="0"/>
                <a:ea typeface="Arial" pitchFamily="34" charset="-122"/>
                <a:cs typeface="Arial" pitchFamily="34" charset="-120"/>
              </a:rPr>
              <a:t>Gender split is fairly even (84 female, 77 male, 1 other). Academic stream is led by Management (64) and Science (63), with Humanities (16) and smaller technical/education streams making up the rest. Most respondents (122 of 167) have already passed +2.</a:t>
            </a:r>
            <a:endParaRPr lang="en-US" sz="1400" dirty="0"/>
          </a:p>
        </p:txBody>
      </p:sp>
      <p:sp>
        <p:nvSpPr>
          <p:cNvPr id="7" name="Text 4"/>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3 — EDA</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b) Skill-Building Effort: Hours and GPA</a:t>
            </a:r>
            <a:endParaRPr lang="en-US" sz="2800" dirty="0"/>
          </a:p>
        </p:txBody>
      </p:sp>
      <p:pic>
        <p:nvPicPr>
          <p:cNvPr id="4" name="Image 0" descr="media/media/image3.png"/>
          <p:cNvPicPr>
            <a:picLocks noChangeAspect="1"/>
          </p:cNvPicPr>
          <p:nvPr/>
        </p:nvPicPr>
        <p:blipFill>
          <a:blip r:embed="rId3"/>
          <a:stretch>
            <a:fillRect/>
          </a:stretch>
        </p:blipFill>
        <p:spPr>
          <a:xfrm>
            <a:off x="1869948" y="1417320"/>
            <a:ext cx="8449056" cy="3168396"/>
          </a:xfrm>
          <a:prstGeom prst="rect">
            <a:avLst/>
          </a:prstGeom>
        </p:spPr>
      </p:pic>
      <p:sp>
        <p:nvSpPr>
          <p:cNvPr id="5" name="Text 2"/>
          <p:cNvSpPr/>
          <p:nvPr/>
        </p:nvSpPr>
        <p:spPr>
          <a:xfrm>
            <a:off x="548640" y="4631436"/>
            <a:ext cx="11064240" cy="365760"/>
          </a:xfrm>
          <a:prstGeom prst="rect">
            <a:avLst/>
          </a:prstGeom>
          <a:noFill/>
          <a:ln/>
        </p:spPr>
        <p:txBody>
          <a:bodyPr wrap="square" rtlCol="0" anchor="ctr"/>
          <a:lstStyle/>
          <a:p>
            <a:pPr marL="0" indent="0" algn="ctr">
              <a:buNone/>
            </a:pPr>
            <a:r>
              <a:rPr lang="en-US" sz="1250" i="1" dirty="0">
                <a:solidFill>
                  <a:srgbClr val="5B5B5B"/>
                </a:solidFill>
                <a:latin typeface="Arial" pitchFamily="34" charset="0"/>
                <a:ea typeface="Arial" pitchFamily="34" charset="-122"/>
                <a:cs typeface="Arial" pitchFamily="34" charset="-120"/>
              </a:rPr>
              <a:t>Figure 2. Distribution of weekly hours spent on skill development, and GPA distribution.</a:t>
            </a:r>
            <a:endParaRPr lang="en-US" sz="1250" dirty="0"/>
          </a:p>
        </p:txBody>
      </p:sp>
      <p:sp>
        <p:nvSpPr>
          <p:cNvPr id="6" name="Text 3"/>
          <p:cNvSpPr/>
          <p:nvPr/>
        </p:nvSpPr>
        <p:spPr>
          <a:xfrm>
            <a:off x="548640" y="5088636"/>
            <a:ext cx="11064240" cy="1586484"/>
          </a:xfrm>
          <a:prstGeom prst="rect">
            <a:avLst/>
          </a:prstGeom>
          <a:noFill/>
          <a:ln/>
        </p:spPr>
        <p:txBody>
          <a:bodyPr wrap="square" rtlCol="0" anchor="t"/>
          <a:lstStyle/>
          <a:p>
            <a:pPr marL="0" indent="0">
              <a:lnSpc>
                <a:spcPct val="120000"/>
              </a:lnSpc>
              <a:buNone/>
            </a:pPr>
            <a:r>
              <a:rPr lang="en-US" sz="1450" dirty="0">
                <a:solidFill>
                  <a:srgbClr val="333333"/>
                </a:solidFill>
                <a:latin typeface="Arial" pitchFamily="34" charset="0"/>
                <a:ea typeface="Arial" pitchFamily="34" charset="-122"/>
                <a:cs typeface="Arial" pitchFamily="34" charset="-120"/>
              </a:rPr>
              <a:t>Weekly skill-building hours cluster in the low-to-moderate range (0–10 hrs/week for most respondents), with a smaller group investing more than 20 hours weekly. GPA is concentrated in the 2.81–3.6 range, roughly matching what would be expected from a self-selected, moderately high-achieving sample reached through social media.</a:t>
            </a:r>
            <a:endParaRPr lang="en-US" sz="1450" dirty="0"/>
          </a:p>
        </p:txBody>
      </p:sp>
      <p:sp>
        <p:nvSpPr>
          <p:cNvPr id="7" name="Text 4"/>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3 — EDA</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c) Career-Awareness Sentiment</a:t>
            </a:r>
            <a:endParaRPr lang="en-US" sz="2800" dirty="0"/>
          </a:p>
        </p:txBody>
      </p:sp>
      <p:pic>
        <p:nvPicPr>
          <p:cNvPr id="4" name="Image 0" descr="media/media/image4.png"/>
          <p:cNvPicPr>
            <a:picLocks noChangeAspect="1"/>
          </p:cNvPicPr>
          <p:nvPr/>
        </p:nvPicPr>
        <p:blipFill>
          <a:blip r:embed="rId3"/>
          <a:stretch>
            <a:fillRect/>
          </a:stretch>
        </p:blipFill>
        <p:spPr>
          <a:xfrm>
            <a:off x="548640" y="1554480"/>
            <a:ext cx="6035040" cy="3394710"/>
          </a:xfrm>
          <a:prstGeom prst="rect">
            <a:avLst/>
          </a:prstGeom>
        </p:spPr>
      </p:pic>
      <p:sp>
        <p:nvSpPr>
          <p:cNvPr id="5" name="Text 2"/>
          <p:cNvSpPr/>
          <p:nvPr/>
        </p:nvSpPr>
        <p:spPr>
          <a:xfrm>
            <a:off x="548640" y="4994910"/>
            <a:ext cx="6035040" cy="365760"/>
          </a:xfrm>
          <a:prstGeom prst="rect">
            <a:avLst/>
          </a:prstGeom>
          <a:noFill/>
          <a:ln/>
        </p:spPr>
        <p:txBody>
          <a:bodyPr wrap="square" rtlCol="0" anchor="ctr"/>
          <a:lstStyle/>
          <a:p>
            <a:pPr marL="0" indent="0" algn="l">
              <a:buNone/>
            </a:pPr>
            <a:r>
              <a:rPr lang="en-US" sz="1250" i="1" dirty="0">
                <a:solidFill>
                  <a:srgbClr val="5B5B5B"/>
                </a:solidFill>
                <a:latin typeface="Arial" pitchFamily="34" charset="0"/>
                <a:ea typeface="Arial" pitchFamily="34" charset="-122"/>
                <a:cs typeface="Arial" pitchFamily="34" charset="-120"/>
              </a:rPr>
              <a:t>Figure 3. Average score (1–5) across the four career-awareness Likert questions.</a:t>
            </a:r>
            <a:endParaRPr lang="en-US" sz="1250" dirty="0"/>
          </a:p>
        </p:txBody>
      </p:sp>
      <p:sp>
        <p:nvSpPr>
          <p:cNvPr id="6" name="Text 3"/>
          <p:cNvSpPr/>
          <p:nvPr/>
        </p:nvSpPr>
        <p:spPr>
          <a:xfrm>
            <a:off x="6858000" y="1554480"/>
            <a:ext cx="4754880" cy="4754880"/>
          </a:xfrm>
          <a:prstGeom prst="rect">
            <a:avLst/>
          </a:prstGeom>
          <a:noFill/>
          <a:ln/>
        </p:spPr>
        <p:txBody>
          <a:bodyPr wrap="square" rtlCol="0" anchor="t"/>
          <a:lstStyle/>
          <a:p>
            <a:pPr marL="0" indent="0">
              <a:lnSpc>
                <a:spcPct val="120000"/>
              </a:lnSpc>
              <a:buNone/>
            </a:pPr>
            <a:r>
              <a:rPr lang="en-US" sz="1400" dirty="0">
                <a:solidFill>
                  <a:srgbClr val="333333"/>
                </a:solidFill>
                <a:latin typeface="Arial" pitchFamily="34" charset="0"/>
                <a:ea typeface="Arial" pitchFamily="34" charset="-122"/>
                <a:cs typeface="Arial" pitchFamily="34" charset="-120"/>
              </a:rPr>
              <a:t>Career confidence scores highest on average (3.64/5), followed by career clarity (3.55), market awareness (3.46), and perceived education support (3.42 — the lowest of the four). In other words, respondents feel somewhat more confident and clear about their goals than they feel supported by their formal education in reaching them — a gap worth flagging for policymakers.</a:t>
            </a:r>
            <a:endParaRPr lang="en-US" sz="1400" dirty="0"/>
          </a:p>
        </p:txBody>
      </p:sp>
      <p:sp>
        <p:nvSpPr>
          <p:cNvPr id="7" name="Text 4"/>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3 — EDA</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d) What Skills Are Students Learning?</a:t>
            </a:r>
            <a:endParaRPr lang="en-US" sz="2800" dirty="0"/>
          </a:p>
        </p:txBody>
      </p:sp>
      <p:pic>
        <p:nvPicPr>
          <p:cNvPr id="4" name="Image 0" descr="media/media/image5.png"/>
          <p:cNvPicPr>
            <a:picLocks noChangeAspect="1"/>
          </p:cNvPicPr>
          <p:nvPr/>
        </p:nvPicPr>
        <p:blipFill>
          <a:blip r:embed="rId3"/>
          <a:stretch>
            <a:fillRect/>
          </a:stretch>
        </p:blipFill>
        <p:spPr>
          <a:xfrm>
            <a:off x="548640" y="1554480"/>
            <a:ext cx="6035040" cy="3352800"/>
          </a:xfrm>
          <a:prstGeom prst="rect">
            <a:avLst/>
          </a:prstGeom>
        </p:spPr>
      </p:pic>
      <p:sp>
        <p:nvSpPr>
          <p:cNvPr id="5" name="Text 2"/>
          <p:cNvSpPr/>
          <p:nvPr/>
        </p:nvSpPr>
        <p:spPr>
          <a:xfrm>
            <a:off x="548640" y="4953000"/>
            <a:ext cx="6035040" cy="365760"/>
          </a:xfrm>
          <a:prstGeom prst="rect">
            <a:avLst/>
          </a:prstGeom>
          <a:noFill/>
          <a:ln/>
        </p:spPr>
        <p:txBody>
          <a:bodyPr wrap="square" rtlCol="0" anchor="ctr"/>
          <a:lstStyle/>
          <a:p>
            <a:pPr marL="0" indent="0" algn="l">
              <a:buNone/>
            </a:pPr>
            <a:r>
              <a:rPr lang="en-US" sz="1250" i="1" dirty="0">
                <a:solidFill>
                  <a:srgbClr val="5B5B5B"/>
                </a:solidFill>
                <a:latin typeface="Arial" pitchFamily="34" charset="0"/>
                <a:ea typeface="Arial" pitchFamily="34" charset="-122"/>
                <a:cs typeface="Arial" pitchFamily="34" charset="-120"/>
              </a:rPr>
              <a:t>Figure 4. Most popular skills currently being learned (respondents could select multiple).</a:t>
            </a:r>
            <a:endParaRPr lang="en-US" sz="1250" dirty="0"/>
          </a:p>
        </p:txBody>
      </p:sp>
      <p:sp>
        <p:nvSpPr>
          <p:cNvPr id="6" name="Text 3"/>
          <p:cNvSpPr/>
          <p:nvPr/>
        </p:nvSpPr>
        <p:spPr>
          <a:xfrm>
            <a:off x="6858000" y="1554480"/>
            <a:ext cx="4754880" cy="4754880"/>
          </a:xfrm>
          <a:prstGeom prst="rect">
            <a:avLst/>
          </a:prstGeom>
          <a:noFill/>
          <a:ln/>
        </p:spPr>
        <p:txBody>
          <a:bodyPr wrap="square" rtlCol="0" anchor="t"/>
          <a:lstStyle/>
          <a:p>
            <a:pPr marL="0" indent="0">
              <a:lnSpc>
                <a:spcPct val="120000"/>
              </a:lnSpc>
              <a:buNone/>
            </a:pPr>
            <a:r>
              <a:rPr lang="en-US" sz="1400" dirty="0">
                <a:solidFill>
                  <a:srgbClr val="333333"/>
                </a:solidFill>
                <a:latin typeface="Arial" pitchFamily="34" charset="0"/>
                <a:ea typeface="Arial" pitchFamily="34" charset="-122"/>
                <a:cs typeface="Arial" pitchFamily="34" charset="-120"/>
              </a:rPr>
              <a:t>Programming/Coding (41 respondents) and Data Analyst/Data Science (40) lead, closely followed by Public Speaking/Communication (35), AI/Machine Learning (33), and Graphic Design (31). Digital Marketing/SEO and UI/UX Design are the least selected (13 each). A notable share of respondents selected "None yet," indicating they have not started structured skill-building at the time of the survey.</a:t>
            </a:r>
            <a:endParaRPr lang="en-US" sz="1400" dirty="0"/>
          </a:p>
        </p:txBody>
      </p:sp>
      <p:sp>
        <p:nvSpPr>
          <p:cNvPr id="7" name="Text 4"/>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3 — EDA</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e) Why and Where Are They Learning?</a:t>
            </a:r>
            <a:endParaRPr lang="en-US" sz="2800" dirty="0"/>
          </a:p>
        </p:txBody>
      </p:sp>
      <p:pic>
        <p:nvPicPr>
          <p:cNvPr id="4" name="Image 0" descr="media/media/image6.png"/>
          <p:cNvPicPr>
            <a:picLocks noChangeAspect="1"/>
          </p:cNvPicPr>
          <p:nvPr/>
        </p:nvPicPr>
        <p:blipFill>
          <a:blip r:embed="rId3"/>
          <a:stretch>
            <a:fillRect/>
          </a:stretch>
        </p:blipFill>
        <p:spPr>
          <a:xfrm>
            <a:off x="1869948" y="1417320"/>
            <a:ext cx="8449056" cy="3249637"/>
          </a:xfrm>
          <a:prstGeom prst="rect">
            <a:avLst/>
          </a:prstGeom>
        </p:spPr>
      </p:pic>
      <p:sp>
        <p:nvSpPr>
          <p:cNvPr id="5" name="Text 2"/>
          <p:cNvSpPr/>
          <p:nvPr/>
        </p:nvSpPr>
        <p:spPr>
          <a:xfrm>
            <a:off x="548640" y="4712677"/>
            <a:ext cx="11064240" cy="365760"/>
          </a:xfrm>
          <a:prstGeom prst="rect">
            <a:avLst/>
          </a:prstGeom>
          <a:noFill/>
          <a:ln/>
        </p:spPr>
        <p:txBody>
          <a:bodyPr wrap="square" rtlCol="0" anchor="ctr"/>
          <a:lstStyle/>
          <a:p>
            <a:pPr marL="0" indent="0" algn="ctr">
              <a:buNone/>
            </a:pPr>
            <a:r>
              <a:rPr lang="en-US" sz="1250" i="1" dirty="0">
                <a:solidFill>
                  <a:srgbClr val="5B5B5B"/>
                </a:solidFill>
                <a:latin typeface="Arial" pitchFamily="34" charset="0"/>
                <a:ea typeface="Arial" pitchFamily="34" charset="-122"/>
                <a:cs typeface="Arial" pitchFamily="34" charset="-120"/>
              </a:rPr>
              <a:t>Figure 5. Motivations for learning skills (left) and where those skills are learned (right).</a:t>
            </a:r>
            <a:endParaRPr lang="en-US" sz="1250" dirty="0"/>
          </a:p>
        </p:txBody>
      </p:sp>
      <p:sp>
        <p:nvSpPr>
          <p:cNvPr id="6" name="Text 3"/>
          <p:cNvSpPr/>
          <p:nvPr/>
        </p:nvSpPr>
        <p:spPr>
          <a:xfrm>
            <a:off x="548640" y="5169877"/>
            <a:ext cx="11064240" cy="1505243"/>
          </a:xfrm>
          <a:prstGeom prst="rect">
            <a:avLst/>
          </a:prstGeom>
          <a:noFill/>
          <a:ln/>
        </p:spPr>
        <p:txBody>
          <a:bodyPr wrap="square" rtlCol="0" anchor="t"/>
          <a:lstStyle/>
          <a:p>
            <a:pPr marL="0" indent="0">
              <a:lnSpc>
                <a:spcPct val="120000"/>
              </a:lnSpc>
              <a:buNone/>
            </a:pPr>
            <a:r>
              <a:rPr lang="en-US" sz="1450" dirty="0">
                <a:solidFill>
                  <a:srgbClr val="333333"/>
                </a:solidFill>
                <a:latin typeface="Arial" pitchFamily="34" charset="0"/>
                <a:ea typeface="Arial" pitchFamily="34" charset="-122"/>
                <a:cs typeface="Arial" pitchFamily="34" charset="-120"/>
              </a:rPr>
              <a:t>"To get a job" and "Personal interest" are the two dominant motivations, well ahead of freelancing, business/startup goals, or university requirements. On the source side, YouTube and other free online videos are the most common learning channel by a wide margin, followed by self-study from books/articles and paid online courses — institutes/training centers and mentors are comparatively underused, despite (per the modeling results in Section 5) being associated with higher readiness.</a:t>
            </a:r>
            <a:endParaRPr lang="en-US" sz="1450" dirty="0"/>
          </a:p>
        </p:txBody>
      </p:sp>
      <p:sp>
        <p:nvSpPr>
          <p:cNvPr id="7" name="Text 4"/>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3 — EDA</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f) Career Awareness vs. GPA and Skill Hours</a:t>
            </a:r>
            <a:endParaRPr lang="en-US" sz="2800" dirty="0"/>
          </a:p>
        </p:txBody>
      </p:sp>
      <p:pic>
        <p:nvPicPr>
          <p:cNvPr id="4" name="Image 0" descr="media/media/image7.png"/>
          <p:cNvPicPr>
            <a:picLocks noChangeAspect="1"/>
          </p:cNvPicPr>
          <p:nvPr/>
        </p:nvPicPr>
        <p:blipFill>
          <a:blip r:embed="rId3"/>
          <a:stretch>
            <a:fillRect/>
          </a:stretch>
        </p:blipFill>
        <p:spPr>
          <a:xfrm>
            <a:off x="548640" y="1554480"/>
            <a:ext cx="5469775" cy="4297680"/>
          </a:xfrm>
          <a:prstGeom prst="rect">
            <a:avLst/>
          </a:prstGeom>
        </p:spPr>
      </p:pic>
      <p:sp>
        <p:nvSpPr>
          <p:cNvPr id="5" name="Text 2"/>
          <p:cNvSpPr/>
          <p:nvPr/>
        </p:nvSpPr>
        <p:spPr>
          <a:xfrm>
            <a:off x="548640" y="5897880"/>
            <a:ext cx="5469775" cy="365760"/>
          </a:xfrm>
          <a:prstGeom prst="rect">
            <a:avLst/>
          </a:prstGeom>
          <a:noFill/>
          <a:ln/>
        </p:spPr>
        <p:txBody>
          <a:bodyPr wrap="square" rtlCol="0" anchor="ctr"/>
          <a:lstStyle/>
          <a:p>
            <a:pPr marL="0" indent="0" algn="l">
              <a:buNone/>
            </a:pPr>
            <a:r>
              <a:rPr lang="en-US" sz="1250" i="1" dirty="0">
                <a:solidFill>
                  <a:srgbClr val="5B5B5B"/>
                </a:solidFill>
                <a:latin typeface="Arial" pitchFamily="34" charset="0"/>
                <a:ea typeface="Arial" pitchFamily="34" charset="-122"/>
                <a:cs typeface="Arial" pitchFamily="34" charset="-120"/>
              </a:rPr>
              <a:t>Figure 6. Correlation heatmap: the four career-awareness measures, GPA, and weekly skill hours.</a:t>
            </a:r>
            <a:endParaRPr lang="en-US" sz="1250" dirty="0"/>
          </a:p>
        </p:txBody>
      </p:sp>
      <p:sp>
        <p:nvSpPr>
          <p:cNvPr id="6" name="Text 3"/>
          <p:cNvSpPr/>
          <p:nvPr/>
        </p:nvSpPr>
        <p:spPr>
          <a:xfrm>
            <a:off x="6858000" y="1554480"/>
            <a:ext cx="4754880" cy="4754880"/>
          </a:xfrm>
          <a:prstGeom prst="rect">
            <a:avLst/>
          </a:prstGeom>
          <a:noFill/>
          <a:ln/>
        </p:spPr>
        <p:txBody>
          <a:bodyPr wrap="square" rtlCol="0" anchor="t"/>
          <a:lstStyle/>
          <a:p>
            <a:pPr marL="0" indent="0">
              <a:lnSpc>
                <a:spcPct val="120000"/>
              </a:lnSpc>
              <a:buNone/>
            </a:pPr>
            <a:r>
              <a:rPr lang="en-US" sz="1400" dirty="0">
                <a:solidFill>
                  <a:srgbClr val="333333"/>
                </a:solidFill>
                <a:latin typeface="Arial" pitchFamily="34" charset="0"/>
                <a:ea typeface="Arial" pitchFamily="34" charset="-122"/>
                <a:cs typeface="Arial" pitchFamily="34" charset="-120"/>
              </a:rPr>
              <a:t>The four career-awareness measures correlate moderately with each other (as expected — someone who feels clear about their path also tends to feel confident and aware of the market). Both GPA and skill hours show only weak correlation with any of the four attitude measures, suggesting that academic performance and time invested alone do not reliably translate into feeling more career-ready — other factors are clearly at play, which motivated the modeling in Section 5.</a:t>
            </a:r>
            <a:endParaRPr lang="en-US" sz="1400" dirty="0"/>
          </a:p>
        </p:txBody>
      </p:sp>
      <p:sp>
        <p:nvSpPr>
          <p:cNvPr id="7" name="Text 4"/>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3 — EDA</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g) What's Blocking Students? (Challenges)</a:t>
            </a:r>
            <a:endParaRPr lang="en-US" sz="2800" dirty="0"/>
          </a:p>
        </p:txBody>
      </p:sp>
      <p:pic>
        <p:nvPicPr>
          <p:cNvPr id="4" name="Image 0" descr="media/media/image8.png"/>
          <p:cNvPicPr>
            <a:picLocks noChangeAspect="1"/>
          </p:cNvPicPr>
          <p:nvPr/>
        </p:nvPicPr>
        <p:blipFill>
          <a:blip r:embed="rId3"/>
          <a:stretch>
            <a:fillRect/>
          </a:stretch>
        </p:blipFill>
        <p:spPr>
          <a:xfrm>
            <a:off x="548640" y="1554480"/>
            <a:ext cx="6035040" cy="3352800"/>
          </a:xfrm>
          <a:prstGeom prst="rect">
            <a:avLst/>
          </a:prstGeom>
        </p:spPr>
      </p:pic>
      <p:sp>
        <p:nvSpPr>
          <p:cNvPr id="5" name="Text 2"/>
          <p:cNvSpPr/>
          <p:nvPr/>
        </p:nvSpPr>
        <p:spPr>
          <a:xfrm>
            <a:off x="548640" y="4953000"/>
            <a:ext cx="6035040" cy="365760"/>
          </a:xfrm>
          <a:prstGeom prst="rect">
            <a:avLst/>
          </a:prstGeom>
          <a:noFill/>
          <a:ln/>
        </p:spPr>
        <p:txBody>
          <a:bodyPr wrap="square" rtlCol="0" anchor="ctr"/>
          <a:lstStyle/>
          <a:p>
            <a:pPr marL="0" indent="0" algn="l">
              <a:buNone/>
            </a:pPr>
            <a:r>
              <a:rPr lang="en-US" sz="1250" i="1" dirty="0">
                <a:solidFill>
                  <a:srgbClr val="5B5B5B"/>
                </a:solidFill>
                <a:latin typeface="Arial" pitchFamily="34" charset="0"/>
                <a:ea typeface="Arial" pitchFamily="34" charset="-122"/>
                <a:cs typeface="Arial" pitchFamily="34" charset="-120"/>
              </a:rPr>
              <a:t>Figure 7. Most commonly selected top-3 career-preparation challenges.</a:t>
            </a:r>
            <a:endParaRPr lang="en-US" sz="1250" dirty="0"/>
          </a:p>
        </p:txBody>
      </p:sp>
      <p:sp>
        <p:nvSpPr>
          <p:cNvPr id="6" name="Text 3"/>
          <p:cNvSpPr/>
          <p:nvPr/>
        </p:nvSpPr>
        <p:spPr>
          <a:xfrm>
            <a:off x="6858000" y="1554480"/>
            <a:ext cx="4754880" cy="4754880"/>
          </a:xfrm>
          <a:prstGeom prst="rect">
            <a:avLst/>
          </a:prstGeom>
          <a:noFill/>
          <a:ln/>
        </p:spPr>
        <p:txBody>
          <a:bodyPr wrap="square" rtlCol="0" anchor="t"/>
          <a:lstStyle/>
          <a:p>
            <a:pPr marL="0" indent="0">
              <a:lnSpc>
                <a:spcPct val="120000"/>
              </a:lnSpc>
              <a:buNone/>
            </a:pPr>
            <a:r>
              <a:rPr lang="en-US" sz="1400" dirty="0">
                <a:solidFill>
                  <a:srgbClr val="333333"/>
                </a:solidFill>
                <a:latin typeface="Arial" pitchFamily="34" charset="0"/>
                <a:ea typeface="Arial" pitchFamily="34" charset="-122"/>
                <a:cs typeface="Arial" pitchFamily="34" charset="-120"/>
              </a:rPr>
              <a:t>Financial problems are the single most common challenge (91 respondents, 54%), followed by lack of guidance or mentorship (72), lack of networking (62), lack of opportunities in Nepal (56), and lack of motivation (49). Poor internet access and family pressure are comparatively less common (19 and 16 respectively), suggesting infrastructure is a smaller barrier than economic and social-support factors for this sample.</a:t>
            </a:r>
            <a:endParaRPr lang="en-US" sz="1400" dirty="0"/>
          </a:p>
        </p:txBody>
      </p:sp>
      <p:sp>
        <p:nvSpPr>
          <p:cNvPr id="7" name="Text 4"/>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3 — EDA</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g) Challenges by Province</a:t>
            </a:r>
            <a:endParaRPr lang="en-US" sz="2800" dirty="0"/>
          </a:p>
        </p:txBody>
      </p:sp>
      <p:pic>
        <p:nvPicPr>
          <p:cNvPr id="4" name="Image 0" descr="media/media/image9.png"/>
          <p:cNvPicPr>
            <a:picLocks noChangeAspect="1"/>
          </p:cNvPicPr>
          <p:nvPr/>
        </p:nvPicPr>
        <p:blipFill>
          <a:blip r:embed="rId3"/>
          <a:stretch>
            <a:fillRect/>
          </a:stretch>
        </p:blipFill>
        <p:spPr>
          <a:xfrm>
            <a:off x="1869948" y="1417320"/>
            <a:ext cx="8449056" cy="3566160"/>
          </a:xfrm>
          <a:prstGeom prst="rect">
            <a:avLst/>
          </a:prstGeom>
        </p:spPr>
      </p:pic>
      <p:sp>
        <p:nvSpPr>
          <p:cNvPr id="5" name="Text 2"/>
          <p:cNvSpPr/>
          <p:nvPr/>
        </p:nvSpPr>
        <p:spPr>
          <a:xfrm>
            <a:off x="548640" y="5029200"/>
            <a:ext cx="11064240" cy="365760"/>
          </a:xfrm>
          <a:prstGeom prst="rect">
            <a:avLst/>
          </a:prstGeom>
          <a:noFill/>
          <a:ln/>
        </p:spPr>
        <p:txBody>
          <a:bodyPr wrap="square" rtlCol="0" anchor="ctr"/>
          <a:lstStyle/>
          <a:p>
            <a:pPr marL="0" indent="0" algn="ctr">
              <a:buNone/>
            </a:pPr>
            <a:r>
              <a:rPr lang="en-US" sz="1250" i="1" dirty="0">
                <a:solidFill>
                  <a:srgbClr val="5B5B5B"/>
                </a:solidFill>
                <a:latin typeface="Arial" pitchFamily="34" charset="0"/>
                <a:ea typeface="Arial" pitchFamily="34" charset="-122"/>
                <a:cs typeface="Arial" pitchFamily="34" charset="-120"/>
              </a:rPr>
              <a:t>Figure 8. Challenge prevalence by province, showing how obstacle mix shifts geographically.</a:t>
            </a:r>
            <a:endParaRPr lang="en-US" sz="1250" dirty="0"/>
          </a:p>
        </p:txBody>
      </p:sp>
      <p:sp>
        <p:nvSpPr>
          <p:cNvPr id="6" name="Text 3"/>
          <p:cNvSpPr/>
          <p:nvPr/>
        </p:nvSpPr>
        <p:spPr>
          <a:xfrm>
            <a:off x="548640" y="5486400"/>
            <a:ext cx="11064240" cy="1188720"/>
          </a:xfrm>
          <a:prstGeom prst="rect">
            <a:avLst/>
          </a:prstGeom>
          <a:noFill/>
          <a:ln/>
        </p:spPr>
        <p:txBody>
          <a:bodyPr wrap="square" rtlCol="0" anchor="t"/>
          <a:lstStyle/>
          <a:p>
            <a:pPr marL="0" indent="0">
              <a:lnSpc>
                <a:spcPct val="120000"/>
              </a:lnSpc>
              <a:buNone/>
            </a:pPr>
            <a:r>
              <a:rPr lang="en-US" sz="1450" dirty="0">
                <a:solidFill>
                  <a:srgbClr val="333333"/>
                </a:solidFill>
                <a:latin typeface="Arial" pitchFamily="34" charset="0"/>
                <a:ea typeface="Arial" pitchFamily="34" charset="-122"/>
                <a:cs typeface="Arial" pitchFamily="34" charset="-120"/>
              </a:rPr>
              <a:t>Breaking challenges down by province shows the mix is not uniform — provinces with fewer respondents (Karnali, Sudurpaschim) still show a heavier relative tilt toward financial and infrastructure-related obstacles, consistent with their generally lower socioeconomic and connectivity indicators, while Bagmati's challenge profile leans more toward networking and mentorship gaps than pure financial or infrastructure barriers.</a:t>
            </a:r>
            <a:endParaRPr lang="en-US" sz="1450" dirty="0"/>
          </a:p>
        </p:txBody>
      </p:sp>
      <p:sp>
        <p:nvSpPr>
          <p:cNvPr id="7" name="Text 4"/>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3 — EDA</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h) Career Interests and Views on the Education System</a:t>
            </a:r>
            <a:endParaRPr lang="en-US" sz="2800" dirty="0"/>
          </a:p>
        </p:txBody>
      </p:sp>
      <p:pic>
        <p:nvPicPr>
          <p:cNvPr id="4" name="Image 0" descr="media/media/image10.png"/>
          <p:cNvPicPr>
            <a:picLocks noChangeAspect="1"/>
          </p:cNvPicPr>
          <p:nvPr/>
        </p:nvPicPr>
        <p:blipFill>
          <a:blip r:embed="rId3"/>
          <a:stretch>
            <a:fillRect/>
          </a:stretch>
        </p:blipFill>
        <p:spPr>
          <a:xfrm>
            <a:off x="1869948" y="1417320"/>
            <a:ext cx="8449056" cy="3249637"/>
          </a:xfrm>
          <a:prstGeom prst="rect">
            <a:avLst/>
          </a:prstGeom>
        </p:spPr>
      </p:pic>
      <p:sp>
        <p:nvSpPr>
          <p:cNvPr id="5" name="Text 2"/>
          <p:cNvSpPr/>
          <p:nvPr/>
        </p:nvSpPr>
        <p:spPr>
          <a:xfrm>
            <a:off x="548640" y="4712677"/>
            <a:ext cx="11064240" cy="365760"/>
          </a:xfrm>
          <a:prstGeom prst="rect">
            <a:avLst/>
          </a:prstGeom>
          <a:noFill/>
          <a:ln/>
        </p:spPr>
        <p:txBody>
          <a:bodyPr wrap="square" rtlCol="0" anchor="ctr"/>
          <a:lstStyle/>
          <a:p>
            <a:pPr marL="0" indent="0" algn="ctr">
              <a:buNone/>
            </a:pPr>
            <a:r>
              <a:rPr lang="en-US" sz="1250" i="1" dirty="0">
                <a:solidFill>
                  <a:srgbClr val="5B5B5B"/>
                </a:solidFill>
                <a:latin typeface="Arial" pitchFamily="34" charset="0"/>
                <a:ea typeface="Arial" pitchFamily="34" charset="-122"/>
                <a:cs typeface="Arial" pitchFamily="34" charset="-120"/>
              </a:rPr>
              <a:t>Figure 9. Most popular career interests (left) and views on whether Nepal's education system prepares students for careers (right).</a:t>
            </a:r>
            <a:endParaRPr lang="en-US" sz="1250" dirty="0"/>
          </a:p>
        </p:txBody>
      </p:sp>
      <p:sp>
        <p:nvSpPr>
          <p:cNvPr id="6" name="Text 3"/>
          <p:cNvSpPr/>
          <p:nvPr/>
        </p:nvSpPr>
        <p:spPr>
          <a:xfrm>
            <a:off x="548640" y="5169877"/>
            <a:ext cx="11064240" cy="1505243"/>
          </a:xfrm>
          <a:prstGeom prst="rect">
            <a:avLst/>
          </a:prstGeom>
          <a:noFill/>
          <a:ln/>
        </p:spPr>
        <p:txBody>
          <a:bodyPr wrap="square" rtlCol="0" anchor="t"/>
          <a:lstStyle/>
          <a:p>
            <a:pPr marL="0" indent="0">
              <a:lnSpc>
                <a:spcPct val="120000"/>
              </a:lnSpc>
              <a:buNone/>
            </a:pPr>
            <a:r>
              <a:rPr lang="en-US" sz="1450" dirty="0">
                <a:solidFill>
                  <a:srgbClr val="333333"/>
                </a:solidFill>
                <a:latin typeface="Arial" pitchFamily="34" charset="0"/>
                <a:ea typeface="Arial" pitchFamily="34" charset="-122"/>
                <a:cs typeface="Arial" pitchFamily="34" charset="-120"/>
              </a:rPr>
              <a:t>IT/Technology dominates career interest by a wide margin (99 of 167, 59%), consistent with the skills most commonly being learned. On education-system adequacy, the plurality response is "Maybe" (117), with more respondents saying "No" (29) than "Yes" (20) — a mildly skeptical, largely ambivalent overall sentiment rather than outright rejection.</a:t>
            </a:r>
            <a:endParaRPr lang="en-US" sz="1450" dirty="0"/>
          </a:p>
        </p:txBody>
      </p:sp>
      <p:sp>
        <p:nvSpPr>
          <p:cNvPr id="7" name="Text 4"/>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5</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Machine Learning Model: What Predicts Readiness?</a:t>
            </a:r>
            <a:endParaRPr lang="en-US" sz="2800" dirty="0"/>
          </a:p>
        </p:txBody>
      </p:sp>
      <p:sp>
        <p:nvSpPr>
          <p:cNvPr id="4" name="Text 2"/>
          <p:cNvSpPr/>
          <p:nvPr/>
        </p:nvSpPr>
        <p:spPr>
          <a:xfrm>
            <a:off x="548640" y="1463040"/>
            <a:ext cx="11064240" cy="1828800"/>
          </a:xfrm>
          <a:prstGeom prst="rect">
            <a:avLst/>
          </a:prstGeom>
          <a:noFill/>
          <a:ln/>
        </p:spPr>
        <p:txBody>
          <a:bodyPr wrap="square" rtlCol="0" anchor="t"/>
          <a:lstStyle/>
          <a:p>
            <a:pPr marL="0" indent="0">
              <a:lnSpc>
                <a:spcPct val="120000"/>
              </a:lnSpc>
              <a:buNone/>
            </a:pPr>
            <a:r>
              <a:rPr lang="en-US" sz="1450" dirty="0">
                <a:solidFill>
                  <a:srgbClr val="333333"/>
                </a:solidFill>
                <a:latin typeface="Arial" pitchFamily="34" charset="0"/>
                <a:ea typeface="Arial" pitchFamily="34" charset="-122"/>
                <a:cs typeface="Arial" pitchFamily="34" charset="-120"/>
              </a:rPr>
              <a:t>To find out which context factors matter most — not just to predict the score — a model was trained using only features that are not themselves ingredients of the readiness score (excluding Q13–Q16 and skill hours/breadth/challenge frequency, to avoid circular prediction). Predictors included age, gender, province, stream, GPA, learning reasons and sources, career interest, and perceived education-system adequacy, one-hot encoded where categorical. Given the modest sample size (167 rows), a 75/25 train–test split was used with a fixed random seed for reproducibility.</a:t>
            </a:r>
            <a:endParaRPr lang="en-US" sz="1450" dirty="0"/>
          </a:p>
        </p:txBody>
      </p:sp>
      <p:pic>
        <p:nvPicPr>
          <p:cNvPr id="5" name="Image 0" descr="media/media/image12.png"/>
          <p:cNvPicPr>
            <a:picLocks noChangeAspect="1"/>
          </p:cNvPicPr>
          <p:nvPr/>
        </p:nvPicPr>
        <p:blipFill>
          <a:blip r:embed="rId3"/>
          <a:stretch>
            <a:fillRect/>
          </a:stretch>
        </p:blipFill>
        <p:spPr>
          <a:xfrm>
            <a:off x="548640" y="3429000"/>
            <a:ext cx="4206240" cy="2804160"/>
          </a:xfrm>
          <a:prstGeom prst="rect">
            <a:avLst/>
          </a:prstGeom>
        </p:spPr>
      </p:pic>
      <p:sp>
        <p:nvSpPr>
          <p:cNvPr id="6" name="Text 3"/>
          <p:cNvSpPr/>
          <p:nvPr/>
        </p:nvSpPr>
        <p:spPr>
          <a:xfrm>
            <a:off x="548640" y="6278880"/>
            <a:ext cx="4206240" cy="365760"/>
          </a:xfrm>
          <a:prstGeom prst="rect">
            <a:avLst/>
          </a:prstGeom>
          <a:noFill/>
          <a:ln/>
        </p:spPr>
        <p:txBody>
          <a:bodyPr wrap="square" rtlCol="0" anchor="ctr"/>
          <a:lstStyle/>
          <a:p>
            <a:pPr marL="0" indent="0" algn="l">
              <a:buNone/>
            </a:pPr>
            <a:r>
              <a:rPr lang="en-US" sz="1250" i="1" dirty="0">
                <a:solidFill>
                  <a:srgbClr val="5B5B5B"/>
                </a:solidFill>
                <a:latin typeface="Arial" pitchFamily="34" charset="0"/>
                <a:ea typeface="Arial" pitchFamily="34" charset="-122"/>
                <a:cs typeface="Arial" pitchFamily="34" charset="-120"/>
              </a:rPr>
              <a:t>Figure 11. Test-set error (MAE, RMSE) for Linear Regression vs. Random Forest — lower is better.</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212080" y="3429000"/>
          <a:ext cx="640080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0">
                <a:tc>
                  <a:txBody>
                    <a:bodyPr/>
                    <a:lstStyle/>
                    <a:p>
                      <a:pPr marL="0" indent="0">
                        <a:buNone/>
                      </a:pPr>
                      <a:r>
                        <a:rPr lang="en-US" sz="1400" b="1" dirty="0">
                          <a:solidFill>
                            <a:srgbClr val="FFFFFF"/>
                          </a:solidFill>
                          <a:latin typeface="Arial" pitchFamily="34" charset="0"/>
                          <a:ea typeface="Arial" pitchFamily="34" charset="-122"/>
                          <a:cs typeface="Arial" pitchFamily="34" charset="-120"/>
                        </a:rPr>
                        <a:t>Model</a:t>
                      </a:r>
                      <a:endParaRPr lang="en-US" sz="1400" dirty="0">
                        <a:latin typeface="Arial" charset="0"/>
                        <a:ea typeface="Arial" charset="0"/>
                        <a:cs typeface="Arial" charset="0"/>
                      </a:endParaRPr>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R²</a:t>
                      </a:r>
                      <a:endParaRPr lang="en-US" sz="1400" dirty="0">
                        <a:latin typeface="Arial" charset="0"/>
                        <a:ea typeface="Arial" charset="0"/>
                        <a:cs typeface="Arial" charset="0"/>
                      </a:endParaRPr>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MAE</a:t>
                      </a:r>
                      <a:endParaRPr lang="en-US" sz="1400" dirty="0">
                        <a:latin typeface="Arial" charset="0"/>
                        <a:ea typeface="Arial" charset="0"/>
                        <a:cs typeface="Arial" charset="0"/>
                      </a:endParaRPr>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RMSE</a:t>
                      </a:r>
                      <a:endParaRPr lang="en-US" sz="1400" dirty="0">
                        <a:latin typeface="Arial" charset="0"/>
                        <a:ea typeface="Arial" charset="0"/>
                        <a:cs typeface="Arial" charset="0"/>
                      </a:endParaRPr>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333333"/>
                          </a:solidFill>
                          <a:latin typeface="Arial" pitchFamily="34" charset="0"/>
                          <a:ea typeface="Arial" pitchFamily="34" charset="-122"/>
                          <a:cs typeface="Arial" pitchFamily="34" charset="-120"/>
                        </a:rPr>
                        <a:t>Linear Regression</a:t>
                      </a:r>
                      <a:endParaRPr lang="en-US" sz="1400" dirty="0">
                        <a:latin typeface="Arial" charset="0"/>
                        <a:ea typeface="Arial" charset="0"/>
                        <a:cs typeface="Arial" charset="0"/>
                      </a:endParaRPr>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marL="0" indent="0">
                        <a:buNone/>
                      </a:pPr>
                      <a:r>
                        <a:rPr lang="en-US" sz="1400" dirty="0">
                          <a:solidFill>
                            <a:srgbClr val="333333"/>
                          </a:solidFill>
                          <a:latin typeface="Arial" pitchFamily="34" charset="0"/>
                          <a:ea typeface="Arial" pitchFamily="34" charset="-122"/>
                          <a:cs typeface="Arial" pitchFamily="34" charset="-120"/>
                        </a:rPr>
                        <a:t>-0.26</a:t>
                      </a:r>
                      <a:endParaRPr lang="en-US" sz="1400" dirty="0">
                        <a:latin typeface="Arial" charset="0"/>
                        <a:ea typeface="Arial" charset="0"/>
                        <a:cs typeface="Arial" charset="0"/>
                      </a:endParaRPr>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marL="0" indent="0">
                        <a:buNone/>
                      </a:pPr>
                      <a:r>
                        <a:rPr lang="en-US" sz="1400" dirty="0">
                          <a:solidFill>
                            <a:srgbClr val="333333"/>
                          </a:solidFill>
                          <a:latin typeface="Arial" pitchFamily="34" charset="0"/>
                          <a:ea typeface="Arial" pitchFamily="34" charset="-122"/>
                          <a:cs typeface="Arial" pitchFamily="34" charset="-120"/>
                        </a:rPr>
                        <a:t>15.31</a:t>
                      </a:r>
                      <a:endParaRPr lang="en-US" sz="1400" dirty="0">
                        <a:latin typeface="Arial" charset="0"/>
                        <a:ea typeface="Arial" charset="0"/>
                        <a:cs typeface="Arial" charset="0"/>
                      </a:endParaRPr>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marL="0" indent="0">
                        <a:buNone/>
                      </a:pPr>
                      <a:r>
                        <a:rPr lang="en-US" sz="1400" dirty="0">
                          <a:solidFill>
                            <a:srgbClr val="333333"/>
                          </a:solidFill>
                          <a:latin typeface="Arial" pitchFamily="34" charset="0"/>
                          <a:ea typeface="Arial" pitchFamily="34" charset="-122"/>
                          <a:cs typeface="Arial" pitchFamily="34" charset="-120"/>
                        </a:rPr>
                        <a:t>19.54</a:t>
                      </a:r>
                      <a:endParaRPr lang="en-US" sz="1400" dirty="0">
                        <a:latin typeface="Arial" charset="0"/>
                        <a:ea typeface="Arial" charset="0"/>
                        <a:cs typeface="Arial" charset="0"/>
                      </a:endParaRPr>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400" dirty="0">
                          <a:solidFill>
                            <a:srgbClr val="333333"/>
                          </a:solidFill>
                          <a:latin typeface="Arial" pitchFamily="34" charset="0"/>
                          <a:ea typeface="Arial" pitchFamily="34" charset="-122"/>
                          <a:cs typeface="Arial" pitchFamily="34" charset="-120"/>
                        </a:rPr>
                        <a:t>Random Forest</a:t>
                      </a:r>
                      <a:endParaRPr lang="en-US" sz="1400" dirty="0">
                        <a:latin typeface="Arial" charset="0"/>
                        <a:ea typeface="Arial" charset="0"/>
                        <a:cs typeface="Arial" charset="0"/>
                      </a:endParaRPr>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marL="0" indent="0">
                        <a:buNone/>
                      </a:pPr>
                      <a:r>
                        <a:rPr lang="en-US" sz="1400" dirty="0">
                          <a:solidFill>
                            <a:srgbClr val="333333"/>
                          </a:solidFill>
                          <a:latin typeface="Arial" pitchFamily="34" charset="0"/>
                          <a:ea typeface="Arial" pitchFamily="34" charset="-122"/>
                          <a:cs typeface="Arial" pitchFamily="34" charset="-120"/>
                        </a:rPr>
                        <a:t>0.13</a:t>
                      </a:r>
                      <a:endParaRPr lang="en-US" sz="1400" dirty="0">
                        <a:latin typeface="Arial" charset="0"/>
                        <a:ea typeface="Arial" charset="0"/>
                        <a:cs typeface="Arial" charset="0"/>
                      </a:endParaRPr>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marL="0" indent="0">
                        <a:buNone/>
                      </a:pPr>
                      <a:r>
                        <a:rPr lang="en-US" sz="1400" dirty="0">
                          <a:solidFill>
                            <a:srgbClr val="333333"/>
                          </a:solidFill>
                          <a:latin typeface="Arial" pitchFamily="34" charset="0"/>
                          <a:ea typeface="Arial" pitchFamily="34" charset="-122"/>
                          <a:cs typeface="Arial" pitchFamily="34" charset="-120"/>
                        </a:rPr>
                        <a:t>13.09</a:t>
                      </a:r>
                      <a:endParaRPr lang="en-US" sz="1400" dirty="0">
                        <a:latin typeface="Arial" charset="0"/>
                        <a:ea typeface="Arial" charset="0"/>
                        <a:cs typeface="Arial" charset="0"/>
                      </a:endParaRPr>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marL="0" indent="0">
                        <a:buNone/>
                      </a:pPr>
                      <a:r>
                        <a:rPr lang="en-US" sz="1400" dirty="0">
                          <a:solidFill>
                            <a:srgbClr val="333333"/>
                          </a:solidFill>
                          <a:latin typeface="Arial" pitchFamily="34" charset="0"/>
                          <a:ea typeface="Arial" pitchFamily="34" charset="-122"/>
                          <a:cs typeface="Arial" pitchFamily="34" charset="-120"/>
                        </a:rPr>
                        <a:t>16.29</a:t>
                      </a:r>
                      <a:endParaRPr lang="en-US" sz="1400" dirty="0">
                        <a:latin typeface="Arial" charset="0"/>
                        <a:ea typeface="Arial" charset="0"/>
                        <a:cs typeface="Arial" charset="0"/>
                      </a:endParaRPr>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Text 4"/>
          <p:cNvSpPr/>
          <p:nvPr/>
        </p:nvSpPr>
        <p:spPr>
          <a:xfrm>
            <a:off x="5212080" y="4709160"/>
            <a:ext cx="6400800" cy="1828800"/>
          </a:xfrm>
          <a:prstGeom prst="rect">
            <a:avLst/>
          </a:prstGeom>
          <a:noFill/>
          <a:ln/>
        </p:spPr>
        <p:txBody>
          <a:bodyPr wrap="square" rtlCol="0" anchor="t"/>
          <a:lstStyle/>
          <a:p>
            <a:pPr marL="0" indent="0">
              <a:lnSpc>
                <a:spcPct val="120000"/>
              </a:lnSpc>
              <a:buNone/>
            </a:pPr>
            <a:r>
              <a:rPr lang="en-US" sz="1250" dirty="0">
                <a:solidFill>
                  <a:srgbClr val="333333"/>
                </a:solidFill>
                <a:latin typeface="Arial" pitchFamily="34" charset="0"/>
                <a:ea typeface="Arial" pitchFamily="34" charset="-122"/>
                <a:cs typeface="Arial" pitchFamily="34" charset="-120"/>
              </a:rPr>
              <a:t>Random Forest outperformed Linear Regression on every metric and was the only model with positive R², meaning readiness depends on non-linear combinations of context rather than a simple additive relationship. Linear Regression's negative R² indicates it performed worse than simply predicting the mean for every respondent. That said, an R² of 0.13 is modest: with 167 rows and no attitudinal predictors allowed (by design, to avoid leakage), the model explains only a limited share of variance. Results should be read as directional — which factors matter, in what rough order — rather than as precise, generalizable predictions.</a:t>
            </a:r>
            <a:endParaRPr lang="en-US" sz="1250" dirty="0"/>
          </a:p>
        </p:txBody>
      </p:sp>
      <p:sp>
        <p:nvSpPr>
          <p:cNvPr id="9" name="Text 5"/>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18</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5</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b) Which Factors Matter Most?</a:t>
            </a:r>
            <a:endParaRPr lang="en-US" sz="2800" dirty="0"/>
          </a:p>
        </p:txBody>
      </p:sp>
      <p:pic>
        <p:nvPicPr>
          <p:cNvPr id="4" name="Image 0" descr="media/media/image13.png"/>
          <p:cNvPicPr>
            <a:picLocks noChangeAspect="1"/>
          </p:cNvPicPr>
          <p:nvPr/>
        </p:nvPicPr>
        <p:blipFill>
          <a:blip r:embed="rId3"/>
          <a:stretch>
            <a:fillRect/>
          </a:stretch>
        </p:blipFill>
        <p:spPr>
          <a:xfrm>
            <a:off x="548640" y="1554480"/>
            <a:ext cx="5730240" cy="4297680"/>
          </a:xfrm>
          <a:prstGeom prst="rect">
            <a:avLst/>
          </a:prstGeom>
        </p:spPr>
      </p:pic>
      <p:sp>
        <p:nvSpPr>
          <p:cNvPr id="5" name="Text 2"/>
          <p:cNvSpPr/>
          <p:nvPr/>
        </p:nvSpPr>
        <p:spPr>
          <a:xfrm>
            <a:off x="548640" y="5897880"/>
            <a:ext cx="5730240" cy="365760"/>
          </a:xfrm>
          <a:prstGeom prst="rect">
            <a:avLst/>
          </a:prstGeom>
          <a:noFill/>
          <a:ln/>
        </p:spPr>
        <p:txBody>
          <a:bodyPr wrap="square" rtlCol="0" anchor="ctr"/>
          <a:lstStyle/>
          <a:p>
            <a:pPr marL="0" indent="0" algn="l">
              <a:buNone/>
            </a:pPr>
            <a:r>
              <a:rPr lang="en-US" sz="1250" i="1" dirty="0">
                <a:solidFill>
                  <a:srgbClr val="5B5B5B"/>
                </a:solidFill>
                <a:latin typeface="Arial" pitchFamily="34" charset="0"/>
                <a:ea typeface="Arial" pitchFamily="34" charset="-122"/>
                <a:cs typeface="Arial" pitchFamily="34" charset="-120"/>
              </a:rPr>
              <a:t>Figure 12. Top 12 Random Forest feature importances.</a:t>
            </a:r>
            <a:endParaRPr lang="en-US" sz="1250" dirty="0"/>
          </a:p>
        </p:txBody>
      </p:sp>
      <p:sp>
        <p:nvSpPr>
          <p:cNvPr id="6" name="Text 3"/>
          <p:cNvSpPr/>
          <p:nvPr/>
        </p:nvSpPr>
        <p:spPr>
          <a:xfrm>
            <a:off x="6858000" y="1444752"/>
            <a:ext cx="5020056" cy="4864608"/>
          </a:xfrm>
          <a:prstGeom prst="rect">
            <a:avLst/>
          </a:prstGeom>
          <a:noFill/>
          <a:ln/>
        </p:spPr>
        <p:txBody>
          <a:bodyPr wrap="square" rtlCol="0" anchor="t"/>
          <a:lstStyle/>
          <a:p>
            <a:pPr marL="0" indent="0">
              <a:lnSpc>
                <a:spcPct val="120000"/>
              </a:lnSpc>
              <a:buNone/>
            </a:pPr>
            <a:r>
              <a:rPr lang="en-US" sz="1400" dirty="0">
                <a:solidFill>
                  <a:srgbClr val="333333"/>
                </a:solidFill>
                <a:latin typeface="Arial" pitchFamily="34" charset="0"/>
                <a:ea typeface="Arial" pitchFamily="34" charset="-122"/>
                <a:cs typeface="Arial" pitchFamily="34" charset="-120"/>
              </a:rPr>
              <a:t>GPA emerged as the single strongest predictor, followed closely by whether a respondent believes the education system is inadequate, whether they learn via an institute/training center, and whether they use paid online courses. Age, wanting to study abroad, being in the Management stream, using YouTube as a learning source, gender, learning "to get a job," being from Gandaki province, and believing the system is adequate round out the top twelve.</a:t>
            </a:r>
            <a:endParaRPr lang="en-US" sz="1400" dirty="0"/>
          </a:p>
          <a:p>
            <a:pPr marL="0" indent="0">
              <a:lnSpc>
                <a:spcPct val="120000"/>
              </a:lnSpc>
              <a:buNone/>
            </a:pPr>
            <a:endParaRPr lang="en-US" sz="1400" dirty="0"/>
          </a:p>
          <a:p>
            <a:pPr marL="0" indent="0">
              <a:lnSpc>
                <a:spcPct val="120000"/>
              </a:lnSpc>
              <a:buNone/>
            </a:pPr>
            <a:r>
              <a:rPr lang="en-US" sz="1400" dirty="0">
                <a:solidFill>
                  <a:srgbClr val="333333"/>
                </a:solidFill>
                <a:latin typeface="Arial" pitchFamily="34" charset="0"/>
                <a:ea typeface="Arial" pitchFamily="34" charset="-122"/>
                <a:cs typeface="Arial" pitchFamily="34" charset="-120"/>
              </a:rPr>
              <a:t>The pattern is notable: three of the top four predictors relate to structural/environmental context rather than pure personal effort, reinforcing the EDA finding that hours invested alone doesn't reliably predict career-readiness sentiment — how and where someone learns, and their broader academic standing, seem to matter more.</a:t>
            </a:r>
            <a:endParaRPr lang="en-US" sz="1400" dirty="0"/>
          </a:p>
        </p:txBody>
      </p:sp>
      <p:sp>
        <p:nvSpPr>
          <p:cNvPr id="7" name="Text 4"/>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19</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6 — DISCUSSION</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a) Answering the Research Questions</a:t>
            </a:r>
            <a:endParaRPr lang="en-US" sz="2800" dirty="0"/>
          </a:p>
        </p:txBody>
      </p:sp>
      <p:sp>
        <p:nvSpPr>
          <p:cNvPr id="4" name="Text 2"/>
          <p:cNvSpPr/>
          <p:nvPr/>
        </p:nvSpPr>
        <p:spPr>
          <a:xfrm>
            <a:off x="548640" y="1554480"/>
            <a:ext cx="11064240" cy="4846320"/>
          </a:xfrm>
          <a:prstGeom prst="rect">
            <a:avLst/>
          </a:prstGeom>
          <a:noFill/>
          <a:ln/>
        </p:spPr>
        <p:txBody>
          <a:bodyPr wrap="square" rtlCol="0" anchor="t"/>
          <a:lstStyle/>
          <a:p>
            <a:pPr marL="228600" indent="-228600">
              <a:lnSpc>
                <a:spcPct val="115000"/>
              </a:lnSpc>
              <a:spcAft>
                <a:spcPts val="1000"/>
              </a:spcAft>
              <a:buSzPct val="100000"/>
              <a:buChar char="●"/>
            </a:pPr>
            <a:r>
              <a:rPr lang="en-US" sz="1500" dirty="0">
                <a:solidFill>
                  <a:srgbClr val="333333"/>
                </a:solidFill>
                <a:latin typeface="Arial" pitchFamily="34" charset="0"/>
                <a:ea typeface="Arial" pitchFamily="34" charset="-122"/>
                <a:cs typeface="Arial" pitchFamily="34" charset="-120"/>
              </a:rPr>
              <a:t>What skills are graduates developing, and how?  Mostly Programming/Coding, Data Science, Communication, AI/ML, and Design predominantly self-directed via free YouTube content, motivated primarily by job-seeking and personal interest rather than formal requirements.</a:t>
            </a:r>
            <a:endParaRPr lang="en-US" sz="1500" dirty="0"/>
          </a:p>
          <a:p>
            <a:pPr marL="228600" indent="-228600">
              <a:lnSpc>
                <a:spcPct val="115000"/>
              </a:lnSpc>
              <a:spcAft>
                <a:spcPts val="1000"/>
              </a:spcAft>
              <a:buSzPct val="100000"/>
              <a:buChar char="●"/>
            </a:pPr>
            <a:r>
              <a:rPr lang="en-US" sz="1500" dirty="0">
                <a:solidFill>
                  <a:srgbClr val="333333"/>
                </a:solidFill>
                <a:latin typeface="Arial" pitchFamily="34" charset="0"/>
                <a:ea typeface="Arial" pitchFamily="34" charset="-122"/>
                <a:cs typeface="Arial" pitchFamily="34" charset="-120"/>
              </a:rPr>
              <a:t>What are the biggest challenges, and does it vary by region/stream?  Financial constraints, lack of mentorship, and lack of networking dominate nationally; the relative weight of financial/infrastructure vs. networking/mentorship challenges shifts somewhat by province, with less-connected provinces leaning more toward financial and infrastructure barriers.</a:t>
            </a:r>
            <a:endParaRPr lang="en-US" sz="1500" dirty="0"/>
          </a:p>
          <a:p>
            <a:pPr marL="228600" indent="-228600">
              <a:lnSpc>
                <a:spcPct val="115000"/>
              </a:lnSpc>
              <a:spcAft>
                <a:spcPts val="1000"/>
              </a:spcAft>
              <a:buSzPct val="100000"/>
              <a:buChar char="●"/>
            </a:pPr>
            <a:r>
              <a:rPr lang="en-US" sz="1500" dirty="0">
                <a:solidFill>
                  <a:srgbClr val="333333"/>
                </a:solidFill>
                <a:latin typeface="Arial" pitchFamily="34" charset="0"/>
                <a:ea typeface="Arial" pitchFamily="34" charset="-122"/>
                <a:cs typeface="Arial" pitchFamily="34" charset="-120"/>
              </a:rPr>
              <a:t>How career-ready do graduates feel, and what predicts it?  The average composite readiness score is about 50/100 (Medium band), with confidence scoring slightly higher than perceived education support. GPA, views on the education system, and the choice of learning channel (institute/paid course vs. informal self-study) are the strongest predictors identified — more so than age, gender, or province alone.</a:t>
            </a:r>
            <a:endParaRPr lang="en-US" sz="1500" dirty="0"/>
          </a:p>
        </p:txBody>
      </p:sp>
      <p:sp>
        <p:nvSpPr>
          <p:cNvPr id="5" name="Text 3"/>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20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6 — DISCUSSION</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6.2 Limitations</a:t>
            </a:r>
            <a:endParaRPr lang="en-US" sz="2800" dirty="0"/>
          </a:p>
        </p:txBody>
      </p:sp>
      <p:sp>
        <p:nvSpPr>
          <p:cNvPr id="4" name="Text 2"/>
          <p:cNvSpPr/>
          <p:nvPr/>
        </p:nvSpPr>
        <p:spPr>
          <a:xfrm>
            <a:off x="548640" y="1645920"/>
            <a:ext cx="11064240" cy="4572000"/>
          </a:xfrm>
          <a:prstGeom prst="rect">
            <a:avLst/>
          </a:prstGeom>
          <a:noFill/>
          <a:ln/>
        </p:spPr>
        <p:txBody>
          <a:bodyPr wrap="square" rtlCol="0" anchor="t"/>
          <a:lstStyle/>
          <a:p>
            <a:pPr marL="228600" indent="-228600">
              <a:lnSpc>
                <a:spcPct val="115000"/>
              </a:lnSpc>
              <a:spcAft>
                <a:spcPts val="1000"/>
              </a:spcAft>
              <a:buSzPct val="100000"/>
              <a:buChar char="●"/>
            </a:pPr>
            <a:r>
              <a:rPr lang="en-US" sz="1700" dirty="0">
                <a:solidFill>
                  <a:srgbClr val="333333"/>
                </a:solidFill>
                <a:latin typeface="Arial" pitchFamily="34" charset="0"/>
                <a:ea typeface="Arial" pitchFamily="34" charset="-122"/>
                <a:cs typeface="Arial" pitchFamily="34" charset="-120"/>
              </a:rPr>
              <a:t>Convenience sample distributed primarily through one Instagram channel, producing an urban/Bagmati skew and likely over-representing digitally engaged students relative to the national population.</a:t>
            </a:r>
            <a:endParaRPr lang="en-US" sz="1700" dirty="0"/>
          </a:p>
          <a:p>
            <a:pPr marL="228600" indent="-228600">
              <a:lnSpc>
                <a:spcPct val="115000"/>
              </a:lnSpc>
              <a:spcAft>
                <a:spcPts val="1000"/>
              </a:spcAft>
              <a:buSzPct val="100000"/>
              <a:buChar char="●"/>
            </a:pPr>
            <a:r>
              <a:rPr lang="en-US" sz="1700" dirty="0">
                <a:solidFill>
                  <a:srgbClr val="333333"/>
                </a:solidFill>
                <a:latin typeface="Arial" pitchFamily="34" charset="0"/>
                <a:ea typeface="Arial" pitchFamily="34" charset="-122"/>
                <a:cs typeface="Arial" pitchFamily="34" charset="-120"/>
              </a:rPr>
              <a:t>Career clarity, confidence, and market-awareness scores are self-reported and subjective, not independently verified.</a:t>
            </a:r>
            <a:endParaRPr lang="en-US" sz="1700" dirty="0"/>
          </a:p>
          <a:p>
            <a:pPr marL="228600" indent="-228600">
              <a:lnSpc>
                <a:spcPct val="115000"/>
              </a:lnSpc>
              <a:spcAft>
                <a:spcPts val="1000"/>
              </a:spcAft>
              <a:buSzPct val="100000"/>
              <a:buChar char="●"/>
            </a:pPr>
            <a:r>
              <a:rPr lang="en-US" sz="1700" dirty="0">
                <a:solidFill>
                  <a:srgbClr val="333333"/>
                </a:solidFill>
                <a:latin typeface="Arial" pitchFamily="34" charset="0"/>
                <a:ea typeface="Arial" pitchFamily="34" charset="-122"/>
                <a:cs typeface="Arial" pitchFamily="34" charset="-120"/>
              </a:rPr>
              <a:t>A sample of 167 is small for machine learning; the R² of 0.13 should be read as exploratory and indicative, not production-grade or nationally generalizable.</a:t>
            </a:r>
            <a:endParaRPr lang="en-US" sz="1700" dirty="0"/>
          </a:p>
          <a:p>
            <a:pPr marL="228600" indent="-228600">
              <a:lnSpc>
                <a:spcPct val="115000"/>
              </a:lnSpc>
              <a:spcAft>
                <a:spcPts val="1000"/>
              </a:spcAft>
              <a:buSzPct val="100000"/>
              <a:buChar char="●"/>
            </a:pPr>
            <a:r>
              <a:rPr lang="en-US" sz="1700" dirty="0">
                <a:solidFill>
                  <a:srgbClr val="333333"/>
                </a:solidFill>
                <a:latin typeface="Arial" pitchFamily="34" charset="0"/>
                <a:ea typeface="Arial" pitchFamily="34" charset="-122"/>
                <a:cs typeface="Arial" pitchFamily="34" charset="-120"/>
              </a:rPr>
              <a:t>The data is cross-sectional (one point in time in mid-2026), so it cannot establish causal or longitudinal trends.</a:t>
            </a:r>
            <a:endParaRPr lang="en-US" sz="1700" dirty="0"/>
          </a:p>
        </p:txBody>
      </p:sp>
      <p:sp>
        <p:nvSpPr>
          <p:cNvPr id="5" name="Text 3"/>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21</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rtlCol="0" anchor="ctr"/>
          <a:lstStyle/>
          <a:p>
            <a:pPr marL="0" indent="0">
              <a:buNone/>
            </a:pPr>
            <a:r>
              <a:rPr lang="en-US" sz="1300" b="1" kern="0" spc="200" dirty="0">
                <a:solidFill>
                  <a:srgbClr val="C98A2C"/>
                </a:solidFill>
                <a:latin typeface="Arial" pitchFamily="34" charset="0"/>
                <a:ea typeface="Arial" pitchFamily="34" charset="-122"/>
                <a:cs typeface="Arial" pitchFamily="34" charset="-120"/>
              </a:rPr>
              <a:t>SECTION 6 — DISCUSSION</a:t>
            </a:r>
            <a:endParaRPr lang="en-US" sz="1300" dirty="0"/>
          </a:p>
        </p:txBody>
      </p:sp>
      <p:sp>
        <p:nvSpPr>
          <p:cNvPr id="3" name="Text 1"/>
          <p:cNvSpPr/>
          <p:nvPr/>
        </p:nvSpPr>
        <p:spPr>
          <a:xfrm>
            <a:off x="548640" y="621792"/>
            <a:ext cx="11064240" cy="822960"/>
          </a:xfrm>
          <a:prstGeom prst="rect">
            <a:avLst/>
          </a:prstGeom>
          <a:noFill/>
          <a:ln/>
        </p:spPr>
        <p:txBody>
          <a:bodyPr wrap="square" rtlCol="0" anchor="ctr"/>
          <a:lstStyle/>
          <a:p>
            <a:pPr marL="0" indent="0">
              <a:buNone/>
            </a:pPr>
            <a:r>
              <a:rPr lang="en-US" sz="2800" b="1" dirty="0">
                <a:solidFill>
                  <a:srgbClr val="1F3864"/>
                </a:solidFill>
                <a:latin typeface="Arial" pitchFamily="34" charset="0"/>
                <a:ea typeface="Arial" pitchFamily="34" charset="-122"/>
                <a:cs typeface="Arial" pitchFamily="34" charset="-120"/>
              </a:rPr>
              <a:t>6.3 Recommendations</a:t>
            </a:r>
            <a:endParaRPr lang="en-US" sz="2800" dirty="0"/>
          </a:p>
        </p:txBody>
      </p:sp>
      <p:sp>
        <p:nvSpPr>
          <p:cNvPr id="4" name="Text 2"/>
          <p:cNvSpPr/>
          <p:nvPr/>
        </p:nvSpPr>
        <p:spPr>
          <a:xfrm>
            <a:off x="548640" y="1554480"/>
            <a:ext cx="11064240" cy="4846320"/>
          </a:xfrm>
          <a:prstGeom prst="rect">
            <a:avLst/>
          </a:prstGeom>
          <a:noFill/>
          <a:ln/>
        </p:spPr>
        <p:txBody>
          <a:bodyPr wrap="square" rtlCol="0" anchor="t"/>
          <a:lstStyle/>
          <a:p>
            <a:pPr marL="228600" indent="-228600">
              <a:lnSpc>
                <a:spcPct val="115000"/>
              </a:lnSpc>
              <a:spcAft>
                <a:spcPts val="1000"/>
              </a:spcAft>
              <a:buSzPct val="100000"/>
              <a:buChar char="●"/>
            </a:pPr>
            <a:r>
              <a:rPr lang="en-US" sz="1450" dirty="0">
                <a:solidFill>
                  <a:srgbClr val="333333"/>
                </a:solidFill>
                <a:latin typeface="Arial" pitchFamily="34" charset="0"/>
                <a:ea typeface="Arial" pitchFamily="34" charset="-122"/>
                <a:cs typeface="Arial" pitchFamily="34" charset="-120"/>
              </a:rPr>
              <a:t>Target mentorship and networking gaps specifically in career-guidance programs, since these were reported more often than lack of skill-learning access itself.</a:t>
            </a:r>
            <a:endParaRPr lang="en-US" sz="1450" dirty="0"/>
          </a:p>
          <a:p>
            <a:pPr marL="228600" indent="-228600">
              <a:lnSpc>
                <a:spcPct val="115000"/>
              </a:lnSpc>
              <a:spcAft>
                <a:spcPts val="1000"/>
              </a:spcAft>
              <a:buSzPct val="100000"/>
              <a:buChar char="●"/>
            </a:pPr>
            <a:r>
              <a:rPr lang="en-US" sz="1450" dirty="0">
                <a:solidFill>
                  <a:srgbClr val="333333"/>
                </a:solidFill>
                <a:latin typeface="Arial" pitchFamily="34" charset="0"/>
                <a:ea typeface="Arial" pitchFamily="34" charset="-122"/>
                <a:cs typeface="Arial" pitchFamily="34" charset="-120"/>
              </a:rPr>
              <a:t>Encourage structured learning channels (institutes, paid courses, mentors) alongside free content — this sample suggests these correlate with higher readiness, though causality cannot be confirmed from this data alone.</a:t>
            </a:r>
            <a:endParaRPr lang="en-US" sz="1450" dirty="0"/>
          </a:p>
          <a:p>
            <a:pPr marL="228600" indent="-228600">
              <a:lnSpc>
                <a:spcPct val="115000"/>
              </a:lnSpc>
              <a:spcAft>
                <a:spcPts val="1000"/>
              </a:spcAft>
              <a:buSzPct val="100000"/>
              <a:buChar char="●"/>
            </a:pPr>
            <a:r>
              <a:rPr lang="en-US" sz="1450" dirty="0">
                <a:solidFill>
                  <a:srgbClr val="333333"/>
                </a:solidFill>
                <a:latin typeface="Arial" pitchFamily="34" charset="0"/>
                <a:ea typeface="Arial" pitchFamily="34" charset="-122"/>
                <a:cs typeface="Arial" pitchFamily="34" charset="-120"/>
              </a:rPr>
              <a:t>Address financial barriers directly (scholarships, subsidized training, low-cost certification pathways), since financial problems were the single most common challenge by a wide margin.</a:t>
            </a:r>
            <a:endParaRPr lang="en-US" sz="1450" dirty="0"/>
          </a:p>
          <a:p>
            <a:pPr marL="228600" indent="-228600">
              <a:lnSpc>
                <a:spcPct val="115000"/>
              </a:lnSpc>
              <a:spcAft>
                <a:spcPts val="1000"/>
              </a:spcAft>
              <a:buSzPct val="100000"/>
              <a:buChar char="●"/>
            </a:pPr>
            <a:r>
              <a:rPr lang="en-US" sz="1450" dirty="0">
                <a:solidFill>
                  <a:srgbClr val="333333"/>
                </a:solidFill>
                <a:latin typeface="Arial" pitchFamily="34" charset="0"/>
                <a:ea typeface="Arial" pitchFamily="34" charset="-122"/>
                <a:cs typeface="Arial" pitchFamily="34" charset="-120"/>
              </a:rPr>
              <a:t>Widen future survey outreach beyond a single social-media channel to reduce provincial and digital-engagement sampling bias.</a:t>
            </a:r>
            <a:endParaRPr lang="en-US" sz="1450" dirty="0"/>
          </a:p>
          <a:p>
            <a:pPr marL="228600" indent="-228600">
              <a:lnSpc>
                <a:spcPct val="115000"/>
              </a:lnSpc>
              <a:spcAft>
                <a:spcPts val="1000"/>
              </a:spcAft>
              <a:buSzPct val="100000"/>
              <a:buChar char="●"/>
            </a:pPr>
            <a:r>
              <a:rPr lang="en-US" sz="1450" dirty="0">
                <a:solidFill>
                  <a:srgbClr val="333333"/>
                </a:solidFill>
                <a:latin typeface="Arial" pitchFamily="34" charset="0"/>
                <a:ea typeface="Arial" pitchFamily="34" charset="-122"/>
                <a:cs typeface="Arial" pitchFamily="34" charset="-120"/>
              </a:rPr>
              <a:t>Investigate the education-support gap further — respondents rated formal education lowest of the four career-awareness measures, suggesting a disconnect between curricula and perceived career preparation worth deeper, qualitative follow-up.</a:t>
            </a:r>
            <a:endParaRPr lang="en-US" sz="1450" dirty="0"/>
          </a:p>
        </p:txBody>
      </p:sp>
      <p:sp>
        <p:nvSpPr>
          <p:cNvPr id="5" name="Text 3"/>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22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731520" y="640080"/>
            <a:ext cx="10698480" cy="548640"/>
          </a:xfrm>
          <a:prstGeom prst="rect">
            <a:avLst/>
          </a:prstGeom>
          <a:noFill/>
          <a:ln/>
        </p:spPr>
        <p:txBody>
          <a:bodyPr wrap="square" rtlCol="0" anchor="ctr"/>
          <a:lstStyle/>
          <a:p>
            <a:pPr marL="0" indent="0">
              <a:buNone/>
            </a:pPr>
            <a:r>
              <a:rPr lang="en-US" sz="1600" b="1" kern="0" spc="200" dirty="0">
                <a:solidFill>
                  <a:srgbClr val="C98A2C"/>
                </a:solidFill>
                <a:latin typeface="Arial" pitchFamily="34" charset="0"/>
                <a:ea typeface="Arial" pitchFamily="34" charset="-122"/>
                <a:cs typeface="Arial" pitchFamily="34" charset="-120"/>
              </a:rPr>
              <a:t>7. CONCLUSION</a:t>
            </a:r>
            <a:endParaRPr lang="en-US" sz="1600" dirty="0"/>
          </a:p>
        </p:txBody>
      </p:sp>
      <p:sp>
        <p:nvSpPr>
          <p:cNvPr id="3" name="Text 1"/>
          <p:cNvSpPr/>
          <p:nvPr/>
        </p:nvSpPr>
        <p:spPr>
          <a:xfrm>
            <a:off x="731520" y="1371600"/>
            <a:ext cx="10698480" cy="4572000"/>
          </a:xfrm>
          <a:prstGeom prst="rect">
            <a:avLst/>
          </a:prstGeom>
          <a:noFill/>
          <a:ln/>
        </p:spPr>
        <p:txBody>
          <a:bodyPr wrap="square" rtlCol="0" anchor="ctr"/>
          <a:lstStyle/>
          <a:p>
            <a:pPr marL="0" indent="0">
              <a:lnSpc>
                <a:spcPct val="130000"/>
              </a:lnSpc>
              <a:buNone/>
            </a:pPr>
            <a:r>
              <a:rPr lang="en-US" sz="1900" dirty="0">
                <a:solidFill>
                  <a:srgbClr val="FFFFFF"/>
                </a:solidFill>
                <a:latin typeface="Arial" pitchFamily="34" charset="0"/>
                <a:ea typeface="Arial" pitchFamily="34" charset="-122"/>
                <a:cs typeface="Arial" pitchFamily="34" charset="-120"/>
              </a:rPr>
              <a:t>This analysis of 167 SEE/+2 graduates in Nepal finds a population that is actively building in-demand skills — largely self-directed through free online content — but held back more by financial constraints and a lack of networking and mentorship than by lack of interest or academic ability. The engineered Career Readiness Score shows most graduates sit in a middle band: engaged, but not yet confidently prepared. Machine learning modeling, while limited by sample size, points toward structural and environmental factors (perceived system quality, choice of learning channel, GPA) mattering as much as or more than individual effort in shaping how ready a graduate feels. These findings, while not nationally representative, offer a concrete, data-grounded starting point for career-guidance interventions targeted at mentorship, networking, and financial access rather than skills-access alone.</a:t>
            </a:r>
            <a:endParaRPr lang="en-US" sz="1900" dirty="0"/>
          </a:p>
        </p:txBody>
      </p:sp>
      <p:sp>
        <p:nvSpPr>
          <p:cNvPr id="4" name="Text 2"/>
          <p:cNvSpPr/>
          <p:nvPr/>
        </p:nvSpPr>
        <p:spPr>
          <a:xfrm>
            <a:off x="11612880" y="6492240"/>
            <a:ext cx="457200" cy="274320"/>
          </a:xfrm>
          <a:prstGeom prst="rect">
            <a:avLst/>
          </a:prstGeom>
          <a:noFill/>
          <a:ln/>
        </p:spPr>
        <p:txBody>
          <a:bodyPr wrap="square" rtlCol="0" anchor="ctr"/>
          <a:lstStyle/>
          <a:p>
            <a:pPr marL="0" indent="0" algn="r">
              <a:buNone/>
            </a:pPr>
            <a:r>
              <a:rPr lang="en-US" sz="1100" dirty="0">
                <a:solidFill>
                  <a:srgbClr val="AAAAAA"/>
                </a:solidFill>
              </a:rPr>
              <a:t>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TotalTime>
  <Words>2848</Words>
  <Application>Microsoft Office PowerPoint</Application>
  <PresentationFormat>Widescreen</PresentationFormat>
  <Paragraphs>154</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Britannic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Sandip Subedi</cp:lastModifiedBy>
  <cp:revision>1</cp:revision>
  <dcterms:created xsi:type="dcterms:W3CDTF">2026-07-22T01:39:34Z</dcterms:created>
  <dcterms:modified xsi:type="dcterms:W3CDTF">2026-07-22T05:07:34Z</dcterms:modified>
</cp:coreProperties>
</file>